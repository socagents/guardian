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0"/>
            <a:ext cx="73152" cy="6858000"/>
          </a:xfrm>
          <a:prstGeom prst="rect">
            <a:avLst/>
          </a:prstGeom>
          <a:solidFill>
            <a:srgbClr val="FF4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01168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B44D"/>
                </a:solidFill>
                <a:latin typeface="Helvetica Neue"/>
              </a:rPr>
              <a:t>DEMO WALKTHROUGH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514600"/>
            <a:ext cx="109728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400" b="1">
                <a:solidFill>
                  <a:srgbClr val="ECEFF4"/>
                </a:solidFill>
                <a:latin typeface="Helvetica Neue"/>
              </a:rPr>
              <a:t>Case 1794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611880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0">
                <a:solidFill>
                  <a:srgbClr val="ECEFF4"/>
                </a:solidFill>
                <a:latin typeface="Helvetica Neue"/>
              </a:rPr>
              <a:t>Phishing → Ransomware Kill Chain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29768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>
                <a:solidFill>
                  <a:srgbClr val="9AA5B1"/>
                </a:solidFill>
                <a:latin typeface="Helvetica Neue"/>
              </a:rPr>
              <a:t>A cohesive XDR investigation flow — not console hopping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03504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9AA5B1"/>
                </a:solidFill>
                <a:latin typeface="Helvetica Neue"/>
              </a:rPr>
              <a:t>22 steps · 7 Acts · 2 endpoints · 1 incident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0"/>
            <a:ext cx="73152" cy="6858000"/>
          </a:xfrm>
          <a:prstGeom prst="rect">
            <a:avLst/>
          </a:prstGeom>
          <a:solidFill>
            <a:srgbClr val="FFB4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FFB44D"/>
                </a:solidFill>
                <a:latin typeface="Helvetica Neue"/>
              </a:rPr>
              <a:t>SET THE SCENE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ECEFF4"/>
                </a:solidFill>
                <a:latin typeface="Helvetica Neue"/>
              </a:rPr>
              <a:t>Before clicking anything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554480"/>
            <a:ext cx="10881360" cy="3017520"/>
          </a:xfrm>
          <a:prstGeom prst="roundRect">
            <a:avLst/>
          </a:prstGeom>
          <a:solidFill>
            <a:srgbClr val="1A22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83080"/>
            <a:ext cx="1033272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>
                <a:solidFill>
                  <a:srgbClr val="ECEFF4"/>
                </a:solidFill>
                <a:latin typeface="Helvetica Neue"/>
              </a:rPr>
              <a:t>"Case 1794 starts with a single phishing email and ends with a wiped Security event log on two hosts.</a:t>
            </a:r>
          </a:p>
          <a:p>
            <a:pPr algn="l"/>
            <a:r>
              <a:rPr sz="1800" b="0">
                <a:solidFill>
                  <a:srgbClr val="ECEFF4"/>
                </a:solidFill>
                <a:latin typeface="Helvetica Neue"/>
              </a:rPr>
              <a:t/>
            </a:r>
          </a:p>
          <a:p>
            <a:pPr algn="l"/>
            <a:r>
              <a:rPr sz="1800" b="0">
                <a:solidFill>
                  <a:srgbClr val="ECEFF4"/>
                </a:solidFill>
                <a:latin typeface="Helvetica Neue"/>
              </a:rPr>
              <a:t>22 steps, 7 acts, 2 compromised endpoints. What I'm going to show you is how XDR turns that into ONE incident — not 22 disconnected alerts — and how an analyst pivots through it in about 8 minutes to get from 'what happened' to 'who, what, how, and what's the blast radius.'</a:t>
            </a:r>
          </a:p>
          <a:p>
            <a:pPr algn="l"/>
            <a:r>
              <a:rPr sz="1800" b="0">
                <a:solidFill>
                  <a:srgbClr val="ECEFF4"/>
                </a:solidFill>
                <a:latin typeface="Helvetica Neue"/>
              </a:rPr>
              <a:t/>
            </a:r>
          </a:p>
          <a:p>
            <a:pPr algn="l"/>
            <a:r>
              <a:rPr sz="1800" b="0">
                <a:solidFill>
                  <a:srgbClr val="ECEFF4"/>
                </a:solidFill>
                <a:latin typeface="Helvetica Neue"/>
              </a:rPr>
              <a:t>We'll move through it the way the attacker did, top to bottom."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84632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FFB44D"/>
                </a:solidFill>
                <a:latin typeface="Helvetica Neue"/>
              </a:rPr>
              <a:t>WHY THIS FRAMING MATTERS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212080"/>
            <a:ext cx="109728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>
                <a:solidFill>
                  <a:srgbClr val="ECEFF4"/>
                </a:solidFill>
                <a:latin typeface="Helvetica Neue"/>
              </a:rPr>
              <a:t>The audience is now primed to evaluate "did XDR connect the dots?" — not "did each rule fire?"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0"/>
            <a:ext cx="73152" cy="6858000"/>
          </a:xfrm>
          <a:prstGeom prst="rect">
            <a:avLst/>
          </a:prstGeom>
          <a:solidFill>
            <a:srgbClr val="4F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4FA8FF"/>
                </a:solidFill>
                <a:latin typeface="Helvetica Neue"/>
              </a:rPr>
              <a:t>REFERENCE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ECEFF4"/>
                </a:solidFill>
                <a:latin typeface="Helvetica Neue"/>
              </a:rPr>
              <a:t>The attack chain we'll walk</a:t>
            </a:r>
          </a:p>
        </p:txBody>
      </p:sp>
      <p:sp>
        <p:nvSpPr>
          <p:cNvPr id="5" name="Oval 4"/>
          <p:cNvSpPr/>
          <p:nvPr/>
        </p:nvSpPr>
        <p:spPr>
          <a:xfrm>
            <a:off x="640080" y="1645920"/>
            <a:ext cx="384048" cy="384048"/>
          </a:xfrm>
          <a:prstGeom prst="ellipse">
            <a:avLst/>
          </a:prstGeom>
          <a:solidFill>
            <a:srgbClr val="FF4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0F141A"/>
                </a:solidFill>
                <a:latin typeface="Helvetica Neue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600200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ECEFF4"/>
                </a:solidFill>
                <a:latin typeface="Helvetica Neue"/>
              </a:rPr>
              <a:t>Act 1 · Initial Foothold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1600200"/>
            <a:ext cx="1371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9AA5B1"/>
                </a:solidFill>
                <a:latin typeface="Menlo"/>
              </a:rPr>
              <a:t>steps 1–5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52160" y="1600200"/>
            <a:ext cx="6035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ECEFF4"/>
                </a:solidFill>
                <a:latin typeface="Helvetica Neue"/>
              </a:rPr>
              <a:t>Phishing → cmd → PowerShell → bitsadmin → mars.exe beacons home</a:t>
            </a:r>
          </a:p>
        </p:txBody>
      </p:sp>
      <p:sp>
        <p:nvSpPr>
          <p:cNvPr id="9" name="Oval 8"/>
          <p:cNvSpPr/>
          <p:nvPr/>
        </p:nvSpPr>
        <p:spPr>
          <a:xfrm>
            <a:off x="640080" y="2212848"/>
            <a:ext cx="384048" cy="384048"/>
          </a:xfrm>
          <a:prstGeom prst="ellipse">
            <a:avLst/>
          </a:prstGeom>
          <a:solidFill>
            <a:srgbClr val="FFB4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0F141A"/>
                </a:solidFill>
                <a:latin typeface="Helvetica Neue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2167128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ECEFF4"/>
                </a:solidFill>
                <a:latin typeface="Helvetica Neue"/>
              </a:rPr>
              <a:t>Act 2 · Learning the Ground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0" y="2167128"/>
            <a:ext cx="1371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9AA5B1"/>
                </a:solidFill>
                <a:latin typeface="Menlo"/>
              </a:rPr>
              <a:t>steps 6–9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52160" y="2167128"/>
            <a:ext cx="6035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ECEFF4"/>
                </a:solidFill>
                <a:latin typeface="Helvetica Neue"/>
              </a:rPr>
              <a:t>Discovery burst + cached creds + LSASS dump</a:t>
            </a:r>
          </a:p>
        </p:txBody>
      </p:sp>
      <p:sp>
        <p:nvSpPr>
          <p:cNvPr id="13" name="Oval 12"/>
          <p:cNvSpPr/>
          <p:nvPr/>
        </p:nvSpPr>
        <p:spPr>
          <a:xfrm>
            <a:off x="640080" y="2779776"/>
            <a:ext cx="384048" cy="384048"/>
          </a:xfrm>
          <a:prstGeom prst="ellipse">
            <a:avLst/>
          </a:prstGeom>
          <a:solidFill>
            <a:srgbClr val="FF4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0F141A"/>
                </a:solidFill>
                <a:latin typeface="Helvetica Neue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2734056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ECEFF4"/>
                </a:solidFill>
                <a:latin typeface="Helvetica Neue"/>
              </a:rPr>
              <a:t>Act 3 · Getting Root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0" y="2734056"/>
            <a:ext cx="1371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9AA5B1"/>
                </a:solidFill>
                <a:latin typeface="Menlo"/>
              </a:rPr>
              <a:t>steps 10–12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52160" y="2734056"/>
            <a:ext cx="6035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ECEFF4"/>
                </a:solidFill>
                <a:latin typeface="Helvetica Neue"/>
              </a:rPr>
              <a:t>UAC bypass · Defender silenced · certutil LOLBin</a:t>
            </a:r>
          </a:p>
        </p:txBody>
      </p:sp>
      <p:sp>
        <p:nvSpPr>
          <p:cNvPr id="17" name="Oval 16"/>
          <p:cNvSpPr/>
          <p:nvPr/>
        </p:nvSpPr>
        <p:spPr>
          <a:xfrm>
            <a:off x="640080" y="3346704"/>
            <a:ext cx="384048" cy="384048"/>
          </a:xfrm>
          <a:prstGeom prst="ellipse">
            <a:avLst/>
          </a:prstGeom>
          <a:solidFill>
            <a:srgbClr val="FFB4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0F141A"/>
                </a:solidFill>
                <a:latin typeface="Helvetica Neue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" y="3300984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ECEFF4"/>
                </a:solidFill>
                <a:latin typeface="Helvetica Neue"/>
              </a:rPr>
              <a:t>Act 4 · Staying Put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89120" y="3300984"/>
            <a:ext cx="1371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9AA5B1"/>
                </a:solidFill>
                <a:latin typeface="Menlo"/>
              </a:rPr>
              <a:t>steps 13–15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52160" y="3300984"/>
            <a:ext cx="6035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ECEFF4"/>
                </a:solidFill>
                <a:latin typeface="Helvetica Neue"/>
              </a:rPr>
              <a:t>Local user · Run key · Scheduled task</a:t>
            </a:r>
          </a:p>
        </p:txBody>
      </p:sp>
      <p:sp>
        <p:nvSpPr>
          <p:cNvPr id="21" name="Oval 20"/>
          <p:cNvSpPr/>
          <p:nvPr/>
        </p:nvSpPr>
        <p:spPr>
          <a:xfrm>
            <a:off x="640080" y="3913632"/>
            <a:ext cx="384048" cy="384048"/>
          </a:xfrm>
          <a:prstGeom prst="ellipse">
            <a:avLst/>
          </a:prstGeom>
          <a:solidFill>
            <a:srgbClr val="FF4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0F141A"/>
                </a:solidFill>
                <a:latin typeface="Helvetica Neue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43000" y="3867912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ECEFF4"/>
                </a:solidFill>
                <a:latin typeface="Helvetica Neue"/>
              </a:rPr>
              <a:t>Act 5 · Lateral Movement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89120" y="3867912"/>
            <a:ext cx="1371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9AA5B1"/>
                </a:solidFill>
                <a:latin typeface="Menlo"/>
              </a:rPr>
              <a:t>step 16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852160" y="3867912"/>
            <a:ext cx="6035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ECEFF4"/>
                </a:solidFill>
                <a:latin typeface="Helvetica Neue"/>
              </a:rPr>
              <a:t>Stolen creds → SMB + WMI + WinRM → victim2 alive</a:t>
            </a:r>
          </a:p>
        </p:txBody>
      </p:sp>
      <p:sp>
        <p:nvSpPr>
          <p:cNvPr id="25" name="Oval 24"/>
          <p:cNvSpPr/>
          <p:nvPr/>
        </p:nvSpPr>
        <p:spPr>
          <a:xfrm>
            <a:off x="640080" y="4480560"/>
            <a:ext cx="384048" cy="384048"/>
          </a:xfrm>
          <a:prstGeom prst="ellipse">
            <a:avLst/>
          </a:prstGeom>
          <a:solidFill>
            <a:srgbClr val="FFB4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0F141A"/>
                </a:solidFill>
                <a:latin typeface="Helvetica Neue"/>
              </a:rPr>
              <a:t>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43000" y="4434840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ECEFF4"/>
                </a:solidFill>
                <a:latin typeface="Helvetica Neue"/>
              </a:rPr>
              <a:t>Act 6 · Harvest + Exfil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89120" y="4434840"/>
            <a:ext cx="1371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9AA5B1"/>
                </a:solidFill>
                <a:latin typeface="Menlo"/>
              </a:rPr>
              <a:t>steps 17–20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852160" y="4434840"/>
            <a:ext cx="6035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ECEFF4"/>
                </a:solidFill>
                <a:latin typeface="Helvetica Neue"/>
              </a:rPr>
              <a:t>Collect sensitive files · archive · DNS tunnel · HTTP POST</a:t>
            </a:r>
          </a:p>
        </p:txBody>
      </p:sp>
      <p:sp>
        <p:nvSpPr>
          <p:cNvPr id="29" name="Oval 28"/>
          <p:cNvSpPr/>
          <p:nvPr/>
        </p:nvSpPr>
        <p:spPr>
          <a:xfrm>
            <a:off x="640080" y="5047488"/>
            <a:ext cx="384048" cy="384048"/>
          </a:xfrm>
          <a:prstGeom prst="ellipse">
            <a:avLst/>
          </a:prstGeom>
          <a:solidFill>
            <a:srgbClr val="FF4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0F141A"/>
                </a:solidFill>
                <a:latin typeface="Helvetica Neue"/>
              </a:rPr>
              <a:t>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43000" y="5001768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ECEFF4"/>
                </a:solidFill>
                <a:latin typeface="Helvetica Neue"/>
              </a:rPr>
              <a:t>Act 7 · Impact + Cleanup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89120" y="5001768"/>
            <a:ext cx="1371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9AA5B1"/>
                </a:solidFill>
                <a:latin typeface="Menlo"/>
              </a:rPr>
              <a:t>steps 21–22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852160" y="5001768"/>
            <a:ext cx="6035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ECEFF4"/>
                </a:solidFill>
                <a:latin typeface="Helvetica Neue"/>
              </a:rPr>
              <a:t>Defacement · clear Security event log (1102)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0"/>
            <a:ext cx="73152" cy="6858000"/>
          </a:xfrm>
          <a:prstGeom prst="rect">
            <a:avLst/>
          </a:prstGeom>
          <a:solidFill>
            <a:srgbClr val="FFB4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FFB44D"/>
                </a:solidFill>
                <a:latin typeface="Helvetica Neue"/>
              </a:rPr>
              <a:t>PACING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ECEFF4"/>
                </a:solidFill>
                <a:latin typeface="Helvetica Neue"/>
              </a:rPr>
              <a:t>Time budget — ~14 min total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554480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ECEFF4"/>
                </a:solidFill>
                <a:latin typeface="Helvetica Neue"/>
              </a:rPr>
              <a:t>Framing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35040" y="1554480"/>
            <a:ext cx="1371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FFB44D"/>
                </a:solidFill>
                <a:latin typeface="Menlo"/>
              </a:rPr>
              <a:t>1 min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80960" y="155448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9AA5B1"/>
                </a:solidFill>
                <a:latin typeface="Helvetica Neue"/>
              </a:rPr>
              <a:t>Set the story arc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993392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ECEFF4"/>
                </a:solidFill>
                <a:latin typeface="Helvetica Neue"/>
              </a:rPr>
              <a:t>Act 1 — Foothold (Causality)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0" y="1993392"/>
            <a:ext cx="1371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FFB44D"/>
                </a:solidFill>
                <a:latin typeface="Menlo"/>
              </a:rPr>
              <a:t>1.5 min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432304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ECEFF4"/>
                </a:solidFill>
                <a:latin typeface="Helvetica Neue"/>
              </a:rPr>
              <a:t>Act 2 — Discovery + first XQL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35040" y="2432304"/>
            <a:ext cx="1371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FFB44D"/>
                </a:solidFill>
                <a:latin typeface="Menlo"/>
              </a:rPr>
              <a:t>1.5 min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2871216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ECEFF4"/>
                </a:solidFill>
                <a:latin typeface="Helvetica Neue"/>
              </a:rPr>
              <a:t>Act 3 — Defender silenced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35040" y="2871216"/>
            <a:ext cx="1371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FFB44D"/>
                </a:solidFill>
                <a:latin typeface="Menlo"/>
              </a:rPr>
              <a:t>2 min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80960" y="2871216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FF4D5E"/>
                </a:solidFill>
                <a:latin typeface="Helvetica Neue"/>
              </a:rPr>
              <a:t>🔥 wow moment 1 · slow down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3310128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ECEFF4"/>
                </a:solidFill>
                <a:latin typeface="Helvetica Neue"/>
              </a:rPr>
              <a:t>Act 4 — Persistence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35040" y="3310128"/>
            <a:ext cx="1371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FFB44D"/>
                </a:solidFill>
                <a:latin typeface="Menlo"/>
              </a:rPr>
              <a:t>1 min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3749040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ECEFF4"/>
                </a:solidFill>
                <a:latin typeface="Helvetica Neue"/>
              </a:rPr>
              <a:t>Act 5 — Lateral pivot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35040" y="3749040"/>
            <a:ext cx="1371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FFB44D"/>
                </a:solidFill>
                <a:latin typeface="Menlo"/>
              </a:rPr>
              <a:t>2 min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80960" y="37490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FF4D5E"/>
                </a:solidFill>
                <a:latin typeface="Helvetica Neue"/>
              </a:rPr>
              <a:t>🔥 wow moment 2 · slow down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4187952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ECEFF4"/>
                </a:solidFill>
                <a:latin typeface="Helvetica Neue"/>
              </a:rPr>
              <a:t>Act 6 — Exfil + XQL hunts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35040" y="4187952"/>
            <a:ext cx="1371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FFB44D"/>
                </a:solidFill>
                <a:latin typeface="Menlo"/>
              </a:rPr>
              <a:t>1.5 min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4626864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ECEFF4"/>
                </a:solidFill>
                <a:latin typeface="Helvetica Neue"/>
              </a:rPr>
              <a:t>Act 7 — Security 1102 backstop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35040" y="4626864"/>
            <a:ext cx="1371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FFB44D"/>
                </a:solidFill>
                <a:latin typeface="Menlo"/>
              </a:rPr>
              <a:t>1.5 min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5065776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ECEFF4"/>
                </a:solidFill>
                <a:latin typeface="Helvetica Neue"/>
              </a:rPr>
              <a:t>Response demo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35040" y="5065776"/>
            <a:ext cx="1371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FFB44D"/>
                </a:solidFill>
                <a:latin typeface="Menlo"/>
              </a:rPr>
              <a:t>2 min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80960" y="5065776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9AA5B1"/>
                </a:solidFill>
                <a:latin typeface="Helvetica Neue"/>
              </a:rPr>
              <a:t>Isolate · Live Terminal · Playbook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" y="5504688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ECEFF4"/>
                </a:solidFill>
                <a:latin typeface="Helvetica Neue"/>
              </a:rPr>
              <a:t>Q&amp;A buffer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035040" y="5504688"/>
            <a:ext cx="1371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FFB44D"/>
                </a:solidFill>
                <a:latin typeface="Menlo"/>
              </a:rPr>
              <a:t>~1 min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0"/>
            <a:ext cx="73152" cy="6858000"/>
          </a:xfrm>
          <a:prstGeom prst="rect">
            <a:avLst/>
          </a:prstGeom>
          <a:solidFill>
            <a:srgbClr val="4F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4FA8FF"/>
                </a:solidFill>
                <a:latin typeface="Helvetica Neue"/>
              </a:rPr>
              <a:t>PRE-FLIGHT (5 MIN BEFORE)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ECEFF4"/>
                </a:solidFill>
                <a:latin typeface="Helvetica Neue"/>
              </a:rPr>
              <a:t>Set up tabs · save queries · verify state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645920"/>
            <a:ext cx="10881360" cy="914400"/>
          </a:xfrm>
          <a:prstGeom prst="roundRect">
            <a:avLst/>
          </a:prstGeom>
          <a:solidFill>
            <a:srgbClr val="1A22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783080"/>
            <a:ext cx="3840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ECEFF4"/>
                </a:solidFill>
                <a:latin typeface="Helvetica Neue"/>
              </a:rPr>
              <a:t>Open Case 1794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148840"/>
            <a:ext cx="10424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FFB44D"/>
                </a:solidFill>
                <a:latin typeface="Menlo"/>
              </a:rPr>
              <a:t>Incident Response → Incidents → search “1794”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37760" y="1783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9AA5B1"/>
                </a:solidFill>
                <a:latin typeface="Helvetica Neue"/>
              </a:rPr>
              <a:t>Lands you on the Incident Card — the canonical entry point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743200"/>
            <a:ext cx="10881360" cy="914400"/>
          </a:xfrm>
          <a:prstGeom prst="roundRect">
            <a:avLst/>
          </a:prstGeom>
          <a:solidFill>
            <a:srgbClr val="1A22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880360"/>
            <a:ext cx="3840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ECEFF4"/>
                </a:solidFill>
                <a:latin typeface="Helvetica Neue"/>
              </a:rPr>
              <a:t>Verify XDR agents online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3246120"/>
            <a:ext cx="10424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FFB44D"/>
                </a:solidFill>
                <a:latin typeface="Menlo"/>
              </a:rPr>
              <a:t>Endpoints → Endpoint Administration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37760" y="288036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9AA5B1"/>
                </a:solidFill>
                <a:latin typeface="Helvetica Neue"/>
              </a:rPr>
              <a:t>xdragent (victim1) + xdragent2 (victim2)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840480"/>
            <a:ext cx="10881360" cy="914400"/>
          </a:xfrm>
          <a:prstGeom prst="roundRect">
            <a:avLst/>
          </a:prstGeom>
          <a:solidFill>
            <a:srgbClr val="1A22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3977640"/>
            <a:ext cx="3840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ECEFF4"/>
                </a:solidFill>
                <a:latin typeface="Helvetica Neue"/>
              </a:rPr>
              <a:t>Save XQL queries to Library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4343400"/>
            <a:ext cx="10424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FFB44D"/>
                </a:solidFill>
                <a:latin typeface="Menlo"/>
              </a:rPr>
              <a:t>Investigation → Query Builder → Saved Queries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37760" y="397764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9AA5B1"/>
                </a:solidFill>
                <a:latin typeface="Helvetica Neue"/>
              </a:rPr>
              <a:t>Have queries #1–#7 (later slides) saved + named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4937760"/>
            <a:ext cx="10881360" cy="914400"/>
          </a:xfrm>
          <a:prstGeom prst="roundRect">
            <a:avLst/>
          </a:prstGeom>
          <a:solidFill>
            <a:srgbClr val="1A22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5074920"/>
            <a:ext cx="3840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ECEFF4"/>
                </a:solidFill>
                <a:latin typeface="Helvetica Neue"/>
              </a:rPr>
              <a:t>Pre-bookmark 3 pivot tabs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5440680"/>
            <a:ext cx="10424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FFB44D"/>
                </a:solidFill>
                <a:latin typeface="Menlo"/>
              </a:rPr>
              <a:t>Asset (victim1) · User (phantomlab) · Hash (mars.exe)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37760" y="507492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9AA5B1"/>
                </a:solidFill>
                <a:latin typeface="Helvetica Neue"/>
              </a:rPr>
              <a:t>Tab muscle-memory &gt; “where was that link again”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0"/>
            <a:ext cx="73152" cy="6858000"/>
          </a:xfrm>
          <a:prstGeom prst="rect">
            <a:avLst/>
          </a:prstGeom>
          <a:solidFill>
            <a:srgbClr val="FF4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FF4D5E"/>
                </a:solidFill>
                <a:latin typeface="Helvetica Neue"/>
              </a:rPr>
              <a:t>ACT 1 · INITIAL FOOTHOLD (STEPS 1–5)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ECEFF4"/>
                </a:solidFill>
                <a:latin typeface="Helvetica Neue"/>
              </a:rPr>
              <a:t>Alert Grouping Graph → Causality View root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4592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FFB44D"/>
                </a:solidFill>
                <a:latin typeface="Helvetica Neue"/>
              </a:rPr>
              <a:t>CONSOLE ACTION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965960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ECEFF4"/>
                </a:solidFill>
                <a:latin typeface="Menlo"/>
              </a:rPr>
              <a:t>Incident Card → Alert Grouping Graph (top-right)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74320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FFB44D"/>
                </a:solidFill>
                <a:latin typeface="Helvetica Neue"/>
              </a:rPr>
              <a:t>WHAT TO SAY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108960"/>
            <a:ext cx="10972800" cy="3291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>
                <a:solidFill>
                  <a:srgbClr val="ECEFF4"/>
                </a:solidFill>
                <a:latin typeface="Helvetica Neue"/>
              </a:rPr>
              <a:t>"This is ONE incident, but it contains [N] alerts. The Alert Grouping Graph shows how XDR's Causality Analysis Engine bound them together.</a:t>
            </a:r>
          </a:p>
          <a:p>
            <a:pPr algn="l"/>
            <a:r>
              <a:rPr sz="1800" b="0">
                <a:solidFill>
                  <a:srgbClr val="ECEFF4"/>
                </a:solidFill>
                <a:latin typeface="Helvetica Neue"/>
              </a:rPr>
              <a:t/>
            </a:r>
          </a:p>
          <a:p>
            <a:pPr algn="l"/>
            <a:r>
              <a:rPr sz="1800" b="0">
                <a:solidFill>
                  <a:srgbClr val="ECEFF4"/>
                </a:solidFill>
                <a:latin typeface="Helvetica Neue"/>
              </a:rPr>
              <a:t>Look at the root node: cmd.exe spawned by Word's macro. That's the Causality Group Owner — the process the engine identified as responsible for everything downstream.</a:t>
            </a:r>
          </a:p>
          <a:p>
            <a:pPr algn="l"/>
            <a:r>
              <a:rPr sz="1800" b="0">
                <a:solidFill>
                  <a:srgbClr val="ECEFF4"/>
                </a:solidFill>
                <a:latin typeface="Helvetica Neue"/>
              </a:rPr>
              <a:t/>
            </a:r>
          </a:p>
          <a:p>
            <a:pPr algn="l"/>
            <a:r>
              <a:rPr sz="1800" b="0">
                <a:solidFill>
                  <a:srgbClr val="ECEFF4"/>
                </a:solidFill>
                <a:latin typeface="Helvetica Neue"/>
              </a:rPr>
              <a:t>Every alert on this graph traces back here."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0"/>
            <a:ext cx="73152" cy="6858000"/>
          </a:xfrm>
          <a:prstGeom prst="rect">
            <a:avLst/>
          </a:prstGeom>
          <a:solidFill>
            <a:srgbClr val="FF4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FF4D5E"/>
                </a:solidFill>
                <a:latin typeface="Helvetica Neue"/>
              </a:rPr>
              <a:t>ACT 1 — CAUSALITY VIEW WALK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ECEFF4"/>
                </a:solidFill>
                <a:latin typeface="Helvetica Neue"/>
              </a:rPr>
              <a:t>Root → child → child</a:t>
            </a:r>
          </a:p>
        </p:txBody>
      </p:sp>
      <p:sp>
        <p:nvSpPr>
          <p:cNvPr id="5" name="Oval 4"/>
          <p:cNvSpPr/>
          <p:nvPr/>
        </p:nvSpPr>
        <p:spPr>
          <a:xfrm>
            <a:off x="640080" y="1719072"/>
            <a:ext cx="457200" cy="457200"/>
          </a:xfrm>
          <a:prstGeom prst="ellipse">
            <a:avLst/>
          </a:prstGeom>
          <a:solidFill>
            <a:srgbClr val="FF4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0F141A"/>
                </a:solidFill>
                <a:latin typeface="Helvetica Neue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1645920"/>
            <a:ext cx="36576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ECEFF4"/>
                </a:solidFill>
                <a:latin typeface="Menlo"/>
              </a:rPr>
              <a:t>WINWORD.EXE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201168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9AA5B1"/>
                </a:solidFill>
                <a:latin typeface="Helvetica Neue"/>
              </a:rPr>
              <a:t>Root node — user opens the attached invoice. Hover the Insights badge: "macro execution from email-staged document."</a:t>
            </a:r>
          </a:p>
        </p:txBody>
      </p:sp>
      <p:sp>
        <p:nvSpPr>
          <p:cNvPr id="8" name="Oval 7"/>
          <p:cNvSpPr/>
          <p:nvPr/>
        </p:nvSpPr>
        <p:spPr>
          <a:xfrm>
            <a:off x="640080" y="2587752"/>
            <a:ext cx="457200" cy="457200"/>
          </a:xfrm>
          <a:prstGeom prst="ellipse">
            <a:avLst/>
          </a:prstGeom>
          <a:solidFill>
            <a:srgbClr val="FF4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0F141A"/>
                </a:solidFill>
                <a:latin typeface="Helvetica Neue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514600"/>
            <a:ext cx="36576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ECEFF4"/>
                </a:solidFill>
                <a:latin typeface="Menlo"/>
              </a:rPr>
              <a:t>cmd.exe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288036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9AA5B1"/>
                </a:solidFill>
                <a:latin typeface="Helvetica Neue"/>
              </a:rPr>
              <a:t>Word macro spawn. Right-click → Add to Timeline for later timestamp reference.</a:t>
            </a:r>
          </a:p>
        </p:txBody>
      </p:sp>
      <p:sp>
        <p:nvSpPr>
          <p:cNvPr id="11" name="Oval 10"/>
          <p:cNvSpPr/>
          <p:nvPr/>
        </p:nvSpPr>
        <p:spPr>
          <a:xfrm>
            <a:off x="640080" y="3456432"/>
            <a:ext cx="457200" cy="457200"/>
          </a:xfrm>
          <a:prstGeom prst="ellipse">
            <a:avLst/>
          </a:prstGeom>
          <a:solidFill>
            <a:srgbClr val="FF4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0F141A"/>
                </a:solidFill>
                <a:latin typeface="Helvetica Neue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3383280"/>
            <a:ext cx="36576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ECEFF4"/>
                </a:solidFill>
                <a:latin typeface="Menlo"/>
              </a:rPr>
              <a:t>powershell.exe (encoded)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374904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9AA5B1"/>
                </a:solidFill>
                <a:latin typeface="Helvetica Neue"/>
              </a:rPr>
              <a:t>Encoded command argument. Hover the node — XDR auto-deobfuscates in the side panel.</a:t>
            </a:r>
          </a:p>
        </p:txBody>
      </p:sp>
      <p:sp>
        <p:nvSpPr>
          <p:cNvPr id="14" name="Oval 13"/>
          <p:cNvSpPr/>
          <p:nvPr/>
        </p:nvSpPr>
        <p:spPr>
          <a:xfrm>
            <a:off x="640080" y="4325112"/>
            <a:ext cx="457200" cy="457200"/>
          </a:xfrm>
          <a:prstGeom prst="ellipse">
            <a:avLst/>
          </a:prstGeom>
          <a:solidFill>
            <a:srgbClr val="FF4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0F141A"/>
                </a:solidFill>
                <a:latin typeface="Helvetica Neue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4251960"/>
            <a:ext cx="36576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ECEFF4"/>
                </a:solidFill>
                <a:latin typeface="Menlo"/>
              </a:rPr>
              <a:t>bitsadmin.exe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461772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9AA5B1"/>
                </a:solidFill>
                <a:latin typeface="Helvetica Neue"/>
              </a:rPr>
              <a:t>LOLBin used to fetch nars.exe. Right-click → Hash View on mars.exe hash.</a:t>
            </a:r>
          </a:p>
        </p:txBody>
      </p:sp>
      <p:sp>
        <p:nvSpPr>
          <p:cNvPr id="17" name="Oval 16"/>
          <p:cNvSpPr/>
          <p:nvPr/>
        </p:nvSpPr>
        <p:spPr>
          <a:xfrm>
            <a:off x="640080" y="5193792"/>
            <a:ext cx="457200" cy="457200"/>
          </a:xfrm>
          <a:prstGeom prst="ellipse">
            <a:avLst/>
          </a:prstGeom>
          <a:solidFill>
            <a:srgbClr val="FF4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0F141A"/>
                </a:solidFill>
                <a:latin typeface="Helvetica Neue"/>
              </a:rP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34440" y="5120640"/>
            <a:ext cx="36576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ECEFF4"/>
                </a:solidFill>
                <a:latin typeface="Menlo"/>
              </a:rPr>
              <a:t>mars.exe beacons home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4440" y="548640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9AA5B1"/>
                </a:solidFill>
                <a:latin typeface="Helvetica Neue"/>
              </a:rPr>
              <a:t>⚡ "MOMENT OF INITIAL COMPROMISE" anchor — note timestamp.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626364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FFB44D"/>
                </a:solidFill>
                <a:latin typeface="Helvetica Neue"/>
              </a:rPr>
              <a:t>💡  "Notice I haven't typed any XQL yet. Everything for the foothold story is in Causality View."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0"/>
            <a:ext cx="73152" cy="6858000"/>
          </a:xfrm>
          <a:prstGeom prst="rect">
            <a:avLst/>
          </a:prstGeom>
          <a:solidFill>
            <a:srgbClr val="B48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B48AFF"/>
                </a:solidFill>
                <a:latin typeface="Helvetica Neue"/>
              </a:rPr>
              <a:t>ACT 2 · LEARNING THE GROUND (STEPS 6–9)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ECEFF4"/>
                </a:solidFill>
                <a:latin typeface="Helvetica Neue"/>
              </a:rPr>
              <a:t>Timeline View → first XQL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FFB44D"/>
                </a:solidFill>
                <a:latin typeface="Helvetica Neue"/>
              </a:rPr>
              <a:t>CONSOLE ACTION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74519"/>
            <a:ext cx="5486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ECEFF4"/>
                </a:solidFill>
                <a:latin typeface="Menlo"/>
              </a:rPr>
              <a:t>Alert → Timeline tab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606040"/>
            <a:ext cx="5486400" cy="3108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ECEFF4"/>
                </a:solidFill>
                <a:latin typeface="Helvetica Neue"/>
              </a:rPr>
              <a:t>"Act 2 is the discovery burst. Six commands in 90 seconds — whoami, net share, net user, systeminfo, arp, netstat. Individually benign. The PATTERN — six discovery commands in under two minutes from the same PowerShell session — is what XDR's behavioral analytics caught."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02920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FFB44D"/>
                </a:solidFill>
                <a:latin typeface="Helvetica Neue"/>
              </a:rPr>
              <a:t>Open Forensics Highlights panel: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349240"/>
            <a:ext cx="54864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9AA5B1"/>
                </a:solidFill>
                <a:latin typeface="Helvetica Neue"/>
              </a:rPr>
              <a:t>• Account Discovery badge</a:t>
            </a:r>
          </a:p>
          <a:p>
            <a:pPr algn="l"/>
            <a:r>
              <a:rPr sz="1300" b="0">
                <a:solidFill>
                  <a:srgbClr val="9AA5B1"/>
                </a:solidFill>
                <a:latin typeface="Helvetica Neue"/>
              </a:rPr>
              <a:t>• System Information Discovery badge</a:t>
            </a:r>
          </a:p>
          <a:p>
            <a:pPr algn="l"/>
            <a:r>
              <a:rPr sz="1300" b="0">
                <a:solidFill>
                  <a:srgbClr val="9AA5B1"/>
                </a:solidFill>
                <a:latin typeface="Helvetica Neue"/>
              </a:rPr>
              <a:t>• Network Share Discovery badge</a:t>
            </a:r>
          </a:p>
          <a:p>
            <a:pPr algn="l"/>
            <a:r>
              <a:rPr sz="1300" b="0">
                <a:solidFill>
                  <a:srgbClr val="9AA5B1"/>
                </a:solidFill>
                <a:latin typeface="Helvetica Neue"/>
              </a:rPr>
              <a:t>  → each links to its MITRE technique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55448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B48AFF"/>
                </a:solidFill>
                <a:latin typeface="Helvetica Neue"/>
              </a:rPr>
              <a:t>XQL #1 — DISCOVERY BURST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1920240"/>
            <a:ext cx="5303520" cy="4114800"/>
          </a:xfrm>
          <a:prstGeom prst="roundRect">
            <a:avLst/>
          </a:prstGeom>
          <a:solidFill>
            <a:srgbClr val="101822"/>
          </a:solidFill>
          <a:ln w="6350">
            <a:solidFill>
              <a:srgbClr val="9AA5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10528" y="2011680"/>
            <a:ext cx="5084064" cy="393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6ECB8C"/>
                </a:solidFill>
                <a:latin typeface="Menlo"/>
              </a:rPr>
              <a:t>dataset = xdr_data</a:t>
            </a:r>
          </a:p>
          <a:p>
            <a:pPr algn="l"/>
            <a:r>
              <a:rPr sz="1100" b="0">
                <a:solidFill>
                  <a:srgbClr val="6ECB8C"/>
                </a:solidFill>
                <a:latin typeface="Menlo"/>
              </a:rPr>
              <a:t>| filter event_type = ENUM.PROCESS</a:t>
            </a:r>
          </a:p>
          <a:p>
            <a:pPr algn="l"/>
            <a:r>
              <a:rPr sz="1100" b="0">
                <a:solidFill>
                  <a:srgbClr val="6ECB8C"/>
                </a:solidFill>
                <a:latin typeface="Menlo"/>
              </a:rPr>
              <a:t>    and event_sub_type = ENUM.PROCESS_START</a:t>
            </a:r>
          </a:p>
          <a:p>
            <a:pPr algn="l"/>
            <a:r>
              <a:rPr sz="1100" b="0">
                <a:solidFill>
                  <a:srgbClr val="6ECB8C"/>
                </a:solidFill>
                <a:latin typeface="Menlo"/>
              </a:rPr>
              <a:t>    and agent_hostname = "xdragent"</a:t>
            </a:r>
          </a:p>
          <a:p>
            <a:pPr algn="l"/>
            <a:r>
              <a:rPr sz="1100" b="0">
                <a:solidFill>
                  <a:srgbClr val="6ECB8C"/>
                </a:solidFill>
                <a:latin typeface="Menlo"/>
              </a:rPr>
              <a:t>    and actor_process_image_name in</a:t>
            </a:r>
          </a:p>
          <a:p>
            <a:pPr algn="l"/>
            <a:r>
              <a:rPr sz="1100" b="0">
                <a:solidFill>
                  <a:srgbClr val="6ECB8C"/>
                </a:solidFill>
                <a:latin typeface="Menlo"/>
              </a:rPr>
              <a:t>        ("powershell.exe", "cmd.exe")</a:t>
            </a:r>
          </a:p>
          <a:p>
            <a:pPr algn="l"/>
            <a:r>
              <a:rPr sz="1100" b="0">
                <a:solidFill>
                  <a:srgbClr val="6ECB8C"/>
                </a:solidFill>
                <a:latin typeface="Menlo"/>
              </a:rPr>
              <a:t>    and action_process_image_name in (</a:t>
            </a:r>
          </a:p>
          <a:p>
            <a:pPr algn="l"/>
            <a:r>
              <a:rPr sz="1100" b="0">
                <a:solidFill>
                  <a:srgbClr val="6ECB8C"/>
                </a:solidFill>
                <a:latin typeface="Menlo"/>
              </a:rPr>
              <a:t>        "whoami.exe", "net.exe", "net1.exe",</a:t>
            </a:r>
          </a:p>
          <a:p>
            <a:pPr algn="l"/>
            <a:r>
              <a:rPr sz="1100" b="0">
                <a:solidFill>
                  <a:srgbClr val="6ECB8C"/>
                </a:solidFill>
                <a:latin typeface="Menlo"/>
              </a:rPr>
              <a:t>        "systeminfo.exe", "arp.exe",</a:t>
            </a:r>
          </a:p>
          <a:p>
            <a:pPr algn="l"/>
            <a:r>
              <a:rPr sz="1100" b="0">
                <a:solidFill>
                  <a:srgbClr val="6ECB8C"/>
                </a:solidFill>
                <a:latin typeface="Menlo"/>
              </a:rPr>
              <a:t>        "netstat.exe", "route.exe",</a:t>
            </a:r>
          </a:p>
          <a:p>
            <a:pPr algn="l"/>
            <a:r>
              <a:rPr sz="1100" b="0">
                <a:solidFill>
                  <a:srgbClr val="6ECB8C"/>
                </a:solidFill>
                <a:latin typeface="Menlo"/>
              </a:rPr>
              <a:t>        "cmdkey.exe"</a:t>
            </a:r>
          </a:p>
          <a:p>
            <a:pPr algn="l"/>
            <a:r>
              <a:rPr sz="1100" b="0">
                <a:solidFill>
                  <a:srgbClr val="6ECB8C"/>
                </a:solidFill>
                <a:latin typeface="Menlo"/>
              </a:rPr>
              <a:t>    )</a:t>
            </a:r>
          </a:p>
          <a:p>
            <a:pPr algn="l"/>
            <a:r>
              <a:rPr sz="1100" b="0">
                <a:solidFill>
                  <a:srgbClr val="6ECB8C"/>
                </a:solidFill>
                <a:latin typeface="Menlo"/>
              </a:rPr>
              <a:t>| fields _time,</a:t>
            </a:r>
          </a:p>
          <a:p>
            <a:pPr algn="l"/>
            <a:r>
              <a:rPr sz="1100" b="0">
                <a:solidFill>
                  <a:srgbClr val="6ECB8C"/>
                </a:solidFill>
                <a:latin typeface="Menlo"/>
              </a:rPr>
              <a:t>    action_process_image_name,</a:t>
            </a:r>
          </a:p>
          <a:p>
            <a:pPr algn="l"/>
            <a:r>
              <a:rPr sz="1100" b="0">
                <a:solidFill>
                  <a:srgbClr val="6ECB8C"/>
                </a:solidFill>
                <a:latin typeface="Menlo"/>
              </a:rPr>
              <a:t>    action_process_image_command_line,</a:t>
            </a:r>
          </a:p>
          <a:p>
            <a:pPr algn="l"/>
            <a:r>
              <a:rPr sz="1100" b="0">
                <a:solidFill>
                  <a:srgbClr val="6ECB8C"/>
                </a:solidFill>
                <a:latin typeface="Menlo"/>
              </a:rPr>
              <a:t>    actor_process_image_name</a:t>
            </a:r>
          </a:p>
          <a:p>
            <a:pPr algn="l"/>
            <a:r>
              <a:rPr sz="1100" b="0">
                <a:solidFill>
                  <a:srgbClr val="6ECB8C"/>
                </a:solidFill>
                <a:latin typeface="Menlo"/>
              </a:rPr>
              <a:t>| sort _time asc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617220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FFB44D"/>
                </a:solidFill>
                <a:latin typeface="Helvetica Neue"/>
              </a:rPr>
              <a:t>Pivot to a hunt: remove agent_hostname filter → search all hosts.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0"/>
            <a:ext cx="73152" cy="6858000"/>
          </a:xfrm>
          <a:prstGeom prst="rect">
            <a:avLst/>
          </a:prstGeom>
          <a:solidFill>
            <a:srgbClr val="FF4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FF4D5E"/>
                </a:solidFill>
                <a:latin typeface="Helvetica Neue"/>
              </a:rPr>
              <a:t>ACT 2 (CONT.) · CREDENTIAL DUMPING (STEPS 7–9)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ECEFF4"/>
                </a:solidFill>
                <a:latin typeface="Helvetica Neue"/>
              </a:rPr>
              <a:t>The marquee EDR detection event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4592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FFB44D"/>
                </a:solidFill>
                <a:latin typeface="Helvetica Neue"/>
              </a:rPr>
              <a:t>FOLLOW THE CAUSALITY CHAIN TO: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194560"/>
            <a:ext cx="4114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FF4D5E"/>
                </a:solidFill>
                <a:latin typeface="Menlo"/>
              </a:rPr>
              <a:t>cmdkey.exe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0" y="2240280"/>
            <a:ext cx="6858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ECEFF4"/>
                </a:solidFill>
                <a:latin typeface="Helvetica Neue"/>
              </a:rPr>
              <a:t>Cached credentials access (T1003.005)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834640"/>
            <a:ext cx="4114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FF4D5E"/>
                </a:solidFill>
                <a:latin typeface="Menlo"/>
              </a:rPr>
              <a:t>rundll32.exe comsvcs.dll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0" y="2880360"/>
            <a:ext cx="6858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ECEFF4"/>
                </a:solidFill>
                <a:latin typeface="Helvetica Neue"/>
              </a:rPr>
              <a:t>LSASS memory dump via MiniDump trick — T1003.001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474720"/>
            <a:ext cx="4114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FF4D5E"/>
                </a:solidFill>
                <a:latin typeface="Menlo"/>
              </a:rPr>
              <a:t>PowerKatz invocation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0" y="3520440"/>
            <a:ext cx="6858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ECEFF4"/>
                </a:solidFill>
                <a:latin typeface="Helvetica Neue"/>
              </a:rPr>
              <a:t>In-memory credential extraction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4572000"/>
            <a:ext cx="10881360" cy="1828800"/>
          </a:xfrm>
          <a:prstGeom prst="roundRect">
            <a:avLst/>
          </a:prstGeom>
          <a:solidFill>
            <a:srgbClr val="1A22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754880"/>
            <a:ext cx="10424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FFB44D"/>
                </a:solidFill>
                <a:latin typeface="Helvetica Neue"/>
              </a:rPr>
              <a:t>👉 For LSASS specifically: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5212080"/>
            <a:ext cx="1042416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ECEFF4"/>
                </a:solidFill>
                <a:latin typeface="Helvetica Neue"/>
              </a:rPr>
              <a:t>Click the LSASS dump process node → All Events tab → show the process_access_image_load event where rundll32 opened a handle to lsass.exe (XDR's equivalent of Sysmon EID 10). This is the marquee EDR detection signal.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0"/>
            <a:ext cx="73152" cy="6858000"/>
          </a:xfrm>
          <a:prstGeom prst="rect">
            <a:avLst/>
          </a:prstGeom>
          <a:solidFill>
            <a:srgbClr val="FF4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FF4D5E"/>
                </a:solidFill>
                <a:latin typeface="Helvetica Neue"/>
              </a:rPr>
              <a:t>ACT 3 · GETTING ROOT (STEPS 10–12)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9728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600" b="1">
                <a:solidFill>
                  <a:srgbClr val="FF4D5E"/>
                </a:solidFill>
                <a:latin typeface="Helvetica Neue"/>
              </a:rPr>
              <a:t>DEFENDER SILENCED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194560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0">
                <a:solidFill>
                  <a:srgbClr val="FFB44D"/>
                </a:solidFill>
                <a:latin typeface="Helvetica Neue"/>
              </a:rPr>
              <a:t>...downstream telemetry degrades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3108960"/>
            <a:ext cx="10881360" cy="3200400"/>
          </a:xfrm>
          <a:prstGeom prst="roundRect">
            <a:avLst/>
          </a:prstGeom>
          <a:solidFill>
            <a:srgbClr val="1A22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3291840"/>
            <a:ext cx="10332720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ECEFF4"/>
                </a:solidFill>
                <a:latin typeface="Helvetica Neue"/>
              </a:rPr>
              <a:t>"Three things in 30 seconds: bypass UAC via Fodhelper, disable Microsoft Defender real-time monitoring, decode the next-stage payload with certutil.</a:t>
            </a:r>
          </a:p>
          <a:p>
            <a:pPr algn="l"/>
            <a:r>
              <a:rPr sz="1700" b="0">
                <a:solidFill>
                  <a:srgbClr val="ECEFF4"/>
                </a:solidFill>
                <a:latin typeface="Helvetica Neue"/>
              </a:rPr>
              <a:t/>
            </a:r>
          </a:p>
          <a:p>
            <a:pPr algn="l"/>
            <a:r>
              <a:rPr sz="1700" b="0">
                <a:solidFill>
                  <a:srgbClr val="ECEFF4"/>
                </a:solidFill>
                <a:latin typeface="Helvetica Neue"/>
              </a:rPr>
              <a:t>If we relied on Defender alone, we'd lose visibility right here.</a:t>
            </a:r>
          </a:p>
          <a:p>
            <a:pPr algn="l"/>
            <a:r>
              <a:rPr sz="1700" b="0">
                <a:solidFill>
                  <a:srgbClr val="ECEFF4"/>
                </a:solidFill>
                <a:latin typeface="Helvetica Neue"/>
              </a:rPr>
              <a:t/>
            </a:r>
          </a:p>
          <a:p>
            <a:pPr algn="l"/>
            <a:r>
              <a:rPr sz="1700" b="0">
                <a:solidFill>
                  <a:srgbClr val="ECEFF4"/>
                </a:solidFill>
                <a:latin typeface="Helvetica Neue"/>
              </a:rPr>
              <a:t>But Defender being silenced IS itself a high-severity Defender/Operational event 5001 — and XDR's behavioral telemetry continues regardless because it's collected by the Cortex XDR agent, not Defender."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4652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B44D"/>
                </a:solidFill>
                <a:latin typeface="Helvetica Neue"/>
              </a:rPr>
              <a:t>🔥  This is the demo's strongest moment — slow down here.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0"/>
            <a:ext cx="73152" cy="6858000"/>
          </a:xfrm>
          <a:prstGeom prst="rect">
            <a:avLst/>
          </a:prstGeom>
          <a:solidFill>
            <a:srgbClr val="FF4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FF4D5E"/>
                </a:solidFill>
                <a:latin typeface="Helvetica Neue"/>
              </a:rPr>
              <a:t>ACT 3 (CONT.) · SHOW THE PARALLEL TELEMETRY PATH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ECEFF4"/>
                </a:solidFill>
                <a:latin typeface="Helvetica Neue"/>
              </a:rPr>
              <a:t>Cortex agent ≠ Defender agent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45920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FFB44D"/>
                </a:solidFill>
                <a:latin typeface="Helvetica Neue"/>
              </a:rPr>
              <a:t>Click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0" y="1645920"/>
            <a:ext cx="85039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ECEFF4"/>
                </a:solidFill>
                <a:latin typeface="Helvetica Neue"/>
              </a:rPr>
              <a:t>“Defender real-time monitoring disabled” alert → Open Card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468880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FFB44D"/>
                </a:solidFill>
                <a:latin typeface="Helvetica Neue"/>
              </a:rPr>
              <a:t>Show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2468880"/>
            <a:ext cx="85039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ECEFF4"/>
                </a:solidFill>
                <a:latin typeface="Helvetica Neue"/>
              </a:rPr>
              <a:t>Causality View — step 12 (certutil decode) STILL has full event detail AFTER Defender went off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291840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FFB44D"/>
                </a:solidFill>
                <a:latin typeface="Helvetica Neue"/>
              </a:rPr>
              <a:t>Forensics Highlights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0" y="3291840"/>
            <a:ext cx="85039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ECEFF4"/>
                </a:solidFill>
                <a:latin typeface="Helvetica Neue"/>
              </a:rPr>
              <a:t>“Indicator removal — defense evasion” badge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29768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FFB44D"/>
                </a:solidFill>
                <a:latin typeface="Helvetica Neue"/>
              </a:rPr>
              <a:t>THEN PIVOT TO ASSET VIEW (HOST INSIGHTS)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4709160"/>
            <a:ext cx="10881360" cy="1554480"/>
          </a:xfrm>
          <a:prstGeom prst="roundRect">
            <a:avLst/>
          </a:prstGeom>
          <a:solidFill>
            <a:srgbClr val="1A22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892040"/>
            <a:ext cx="103327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ECEFF4"/>
                </a:solidFill>
                <a:latin typeface="Helvetica Neue"/>
              </a:rPr>
              <a:t>• Click Asset link on the alert → Host Insights for xdragent</a:t>
            </a:r>
          </a:p>
          <a:p>
            <a:pPr algn="l"/>
            <a:r>
              <a:rPr sz="1400" b="0">
                <a:solidFill>
                  <a:srgbClr val="ECEFF4"/>
                </a:solidFill>
                <a:latin typeface="Helvetica Neue"/>
              </a:rPr>
              <a:t>• Installed Software / Running Services — confirm Defender service state</a:t>
            </a:r>
          </a:p>
          <a:p>
            <a:pPr algn="l"/>
            <a:r>
              <a:rPr sz="1400" b="0">
                <a:solidFill>
                  <a:srgbClr val="ECEFF4"/>
                </a:solidFill>
                <a:latin typeface="Helvetica Neue"/>
              </a:rPr>
              <a:t>• Vulnerability Assessment panel — pre-existing CVEs that contextualize "was this attractive prey?"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0"/>
            <a:ext cx="73152" cy="6858000"/>
          </a:xfrm>
          <a:prstGeom prst="rect">
            <a:avLst/>
          </a:prstGeom>
          <a:solidFill>
            <a:srgbClr val="FFB4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FFB44D"/>
                </a:solidFill>
                <a:latin typeface="Helvetica Neue"/>
              </a:rPr>
              <a:t>ACT 4 · STAYING PUT (STEPS 13–15)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ECEFF4"/>
                </a:solidFill>
                <a:latin typeface="Helvetica Neue"/>
              </a:rPr>
              <a:t>Forensics Highlights · Live Terminal preview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FFB44D"/>
                </a:solidFill>
                <a:latin typeface="Helvetica Neue"/>
              </a:rPr>
              <a:t>CONSOLE ACTION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74519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ECEFF4"/>
                </a:solidFill>
                <a:latin typeface="Menlo"/>
              </a:rPr>
              <a:t>Filter incident alerts → tactic: Persistence (left filter)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514600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ECEFF4"/>
                </a:solidFill>
                <a:latin typeface="Helvetica Neue"/>
              </a:rPr>
              <a:t>"Three persistence mechanisms in under a minute. Signal you want your SOC to internalize: multiple persistence mechanisms in burst → don't deal with them as isolated alerts."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657600"/>
            <a:ext cx="3566160" cy="2103120"/>
          </a:xfrm>
          <a:prstGeom prst="roundRect">
            <a:avLst/>
          </a:prstGeom>
          <a:solidFill>
            <a:srgbClr val="1A22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3840480"/>
            <a:ext cx="3291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ECEFF4"/>
                </a:solidFill>
                <a:latin typeface="Helvetica Neue"/>
              </a:rPr>
              <a:t>Local user create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434340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FFB44D"/>
                </a:solidFill>
                <a:latin typeface="Menlo"/>
              </a:rPr>
              <a:t>Security 4720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4754880"/>
            <a:ext cx="32918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9AA5B1"/>
                </a:solidFill>
                <a:latin typeface="Helvetica Neue"/>
              </a:rPr>
              <a:t>Account: T1136.001_PowerShell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400" y="3657600"/>
            <a:ext cx="3566160" cy="2103120"/>
          </a:xfrm>
          <a:prstGeom prst="roundRect">
            <a:avLst/>
          </a:prstGeom>
          <a:solidFill>
            <a:srgbClr val="1A22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3840480"/>
            <a:ext cx="3291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ECEFF4"/>
                </a:solidFill>
                <a:latin typeface="Helvetica Neue"/>
              </a:rPr>
              <a:t>Registry Run key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434340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FFB44D"/>
                </a:solidFill>
                <a:latin typeface="Menlo"/>
              </a:rPr>
              <a:t>Sysmon EID 13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4754880"/>
            <a:ext cx="32918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9AA5B1"/>
                </a:solidFill>
                <a:latin typeface="Helvetica Neue"/>
              </a:rPr>
              <a:t>Value: PhantomUpdater → implant path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0" y="3657600"/>
            <a:ext cx="3566160" cy="2103120"/>
          </a:xfrm>
          <a:prstGeom prst="roundRect">
            <a:avLst/>
          </a:prstGeom>
          <a:solidFill>
            <a:srgbClr val="1A22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75320" y="3840480"/>
            <a:ext cx="3291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ECEFF4"/>
                </a:solidFill>
                <a:latin typeface="Helvetica Neue"/>
              </a:rPr>
              <a:t>Scheduled task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75320" y="434340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FFB44D"/>
                </a:solidFill>
                <a:latin typeface="Menlo"/>
              </a:rPr>
              <a:t>Security 4698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75320" y="4754880"/>
            <a:ext cx="32918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9AA5B1"/>
                </a:solidFill>
                <a:latin typeface="Helvetica Neue"/>
              </a:rPr>
              <a:t>schtasks /create /sc onlogon /ru SYSTEM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0"/>
            <a:ext cx="73152" cy="6858000"/>
          </a:xfrm>
          <a:prstGeom prst="rect">
            <a:avLst/>
          </a:prstGeom>
          <a:solidFill>
            <a:srgbClr val="FFB4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FFB44D"/>
                </a:solidFill>
                <a:latin typeface="Helvetica Neue"/>
              </a:rPr>
              <a:t>ACT 4 · PREVIEW LIVE TERMINAL (DON'T RUN YET)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ECEFF4"/>
                </a:solidFill>
                <a:latin typeface="Helvetica Neue"/>
              </a:rPr>
              <a:t>Initiate Response Action → Live Terminal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645920"/>
            <a:ext cx="10881360" cy="4114800"/>
          </a:xfrm>
          <a:prstGeom prst="roundRect">
            <a:avLst/>
          </a:prstGeom>
          <a:solidFill>
            <a:srgbClr val="1A22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10332720" cy="393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ECEFF4"/>
                </a:solidFill>
                <a:latin typeface="Helvetica Neue"/>
              </a:rPr>
              <a:t>Click the Initiate Response Action button on victim1 → Live Terminal.</a:t>
            </a:r>
          </a:p>
          <a:p>
            <a:pPr algn="l"/>
            <a:r>
              <a:rPr sz="1600" b="0">
                <a:solidFill>
                  <a:srgbClr val="ECEFF4"/>
                </a:solidFill>
                <a:latin typeface="Helvetica Neue"/>
              </a:rPr>
              <a:t/>
            </a:r>
          </a:p>
          <a:p>
            <a:pPr algn="l"/>
            <a:r>
              <a:rPr sz="1600" b="0">
                <a:solidFill>
                  <a:srgbClr val="ECEFF4"/>
                </a:solidFill>
                <a:latin typeface="Helvetica Neue"/>
              </a:rPr>
              <a:t>Show the welcome screen — but DO NOT run anything yet.</a:t>
            </a:r>
          </a:p>
          <a:p>
            <a:pPr algn="l"/>
            <a:r>
              <a:rPr sz="1600" b="0">
                <a:solidFill>
                  <a:srgbClr val="ECEFF4"/>
                </a:solidFill>
                <a:latin typeface="Helvetica Neue"/>
              </a:rPr>
              <a:t/>
            </a:r>
          </a:p>
          <a:p>
            <a:pPr algn="l"/>
            <a:r>
              <a:rPr sz="1600" b="0">
                <a:solidFill>
                  <a:srgbClr val="ECEFF4"/>
                </a:solidFill>
                <a:latin typeface="Helvetica Neue"/>
              </a:rPr>
              <a:t>"From here I could run PowerShell, kill the scheduled task, delete the Run key, dump memory. I can do all of that without RDP-ing in or coordinating with the desktop team.</a:t>
            </a:r>
          </a:p>
          <a:p>
            <a:pPr algn="l"/>
            <a:r>
              <a:rPr sz="1600" b="0">
                <a:solidFill>
                  <a:srgbClr val="ECEFF4"/>
                </a:solidFill>
                <a:latin typeface="Helvetica Neue"/>
              </a:rPr>
              <a:t/>
            </a:r>
          </a:p>
          <a:p>
            <a:pPr algn="l"/>
            <a:r>
              <a:rPr sz="1600" b="0">
                <a:solidFill>
                  <a:srgbClr val="ECEFF4"/>
                </a:solidFill>
                <a:latin typeface="Helvetica Neue"/>
              </a:rPr>
              <a:t>We'll come back to this in the response phase at the end."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94360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FFB44D"/>
                </a:solidFill>
                <a:latin typeface="Helvetica Neue"/>
              </a:rPr>
              <a:t>📌  Foreshadowing builds anticipation. Operators love this feature — tease it.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0"/>
            <a:ext cx="73152" cy="6858000"/>
          </a:xfrm>
          <a:prstGeom prst="rect">
            <a:avLst/>
          </a:prstGeom>
          <a:solidFill>
            <a:srgbClr val="FF4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FF4D5E"/>
                </a:solidFill>
                <a:latin typeface="Helvetica Neue"/>
              </a:rPr>
              <a:t>ACT 5 · LATERAL MOVEMENT (STEP 16)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9728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600" b="1">
                <a:solidFill>
                  <a:srgbClr val="FF4D5E"/>
                </a:solidFill>
                <a:latin typeface="Helvetica Neue"/>
              </a:rPr>
              <a:t>THE CRITICAL PIVOT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194560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0">
                <a:solidFill>
                  <a:srgbClr val="FFB44D"/>
                </a:solidFill>
                <a:latin typeface="Helvetica Neue"/>
              </a:rPr>
              <a:t>blast radius doubles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3108960"/>
            <a:ext cx="10881360" cy="3108960"/>
          </a:xfrm>
          <a:prstGeom prst="roundRect">
            <a:avLst/>
          </a:prstGeom>
          <a:solidFill>
            <a:srgbClr val="1A22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3291840"/>
            <a:ext cx="10332720" cy="2834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ECEFF4"/>
                </a:solidFill>
                <a:latin typeface="Helvetica Neue"/>
              </a:rPr>
              <a:t>Step 16: attacker on victim1 with elevated creds reaches across to victim2 via SMB + WMI + WinRM.</a:t>
            </a:r>
          </a:p>
          <a:p>
            <a:pPr algn="l"/>
            <a:r>
              <a:rPr sz="1700" b="0">
                <a:solidFill>
                  <a:srgbClr val="ECEFF4"/>
                </a:solidFill>
                <a:latin typeface="Helvetica Neue"/>
              </a:rPr>
              <a:t/>
            </a:r>
          </a:p>
          <a:p>
            <a:pPr algn="l"/>
            <a:r>
              <a:rPr sz="1700" b="0">
                <a:solidFill>
                  <a:srgbClr val="ECEFF4"/>
                </a:solidFill>
                <a:latin typeface="Helvetica Neue"/>
              </a:rPr>
              <a:t>Console: Open Network Causality View on the lateral alert.</a:t>
            </a:r>
          </a:p>
          <a:p>
            <a:pPr algn="l"/>
            <a:r>
              <a:rPr sz="1700" b="0">
                <a:solidFill>
                  <a:srgbClr val="ECEFF4"/>
                </a:solidFill>
                <a:latin typeface="Helvetica Neue"/>
              </a:rPr>
              <a:t/>
            </a:r>
          </a:p>
          <a:p>
            <a:pPr algn="l"/>
            <a:r>
              <a:rPr sz="1700" b="0">
                <a:solidFill>
                  <a:srgbClr val="ECEFF4"/>
                </a:solidFill>
                <a:latin typeface="Helvetica Neue"/>
              </a:rPr>
              <a:t>"This is the part XDR does that legacy AV simply cannot. The destination host has its own agent feeding XDR — we'll see the remote process creation from victim2's perspective, proving the lateral worked."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B44D"/>
                </a:solidFill>
                <a:latin typeface="Helvetica Neue"/>
              </a:rPr>
              <a:t>🔥  Wow moment 2 — slow down, give it the dramatic beat.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0"/>
            <a:ext cx="73152" cy="6858000"/>
          </a:xfrm>
          <a:prstGeom prst="rect">
            <a:avLst/>
          </a:prstGeom>
          <a:solidFill>
            <a:srgbClr val="FF4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FF4D5E"/>
                </a:solidFill>
                <a:latin typeface="Helvetica Neue"/>
              </a:rPr>
              <a:t>ACT 5 · NETWORK CAUSALITY VIEW WALK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ECEFF4"/>
                </a:solidFill>
                <a:latin typeface="Helvetica Neue"/>
              </a:rPr>
              <a:t>victim1 → victim2 cross-host evidence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645920"/>
            <a:ext cx="3200400" cy="2011680"/>
          </a:xfrm>
          <a:prstGeom prst="roundRect">
            <a:avLst/>
          </a:prstGeom>
          <a:solidFill>
            <a:srgbClr val="1A222C"/>
          </a:solidFill>
          <a:ln w="12700">
            <a:solidFill>
              <a:srgbClr val="FF4D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783080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4D5E"/>
                </a:solidFill>
                <a:latin typeface="Helvetica Neue"/>
              </a:rPr>
              <a:t>SOURCE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148840"/>
            <a:ext cx="2926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ECEFF4"/>
                </a:solidFill>
                <a:latin typeface="Menlo"/>
              </a:rPr>
              <a:t>xdragent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606040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9AA5B1"/>
                </a:solidFill>
                <a:latin typeface="Menlo"/>
              </a:rPr>
              <a:t>10.10.0.14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017520"/>
            <a:ext cx="29260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ECEFF4"/>
                </a:solidFill>
                <a:latin typeface="Helvetica Neue"/>
              </a:rPr>
              <a:t>PowerShell session</a:t>
            </a:r>
          </a:p>
          <a:p>
            <a:pPr algn="l"/>
            <a:r>
              <a:rPr sz="1300" b="0">
                <a:solidFill>
                  <a:srgbClr val="ECEFF4"/>
                </a:solidFill>
                <a:latin typeface="Helvetica Neue"/>
              </a:rPr>
              <a:t>origin of lateral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0" y="2194560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800" b="0">
                <a:solidFill>
                  <a:srgbClr val="FF4D5E"/>
                </a:solidFill>
                <a:latin typeface="Helvetica Neue"/>
              </a:rPr>
              <a:t>──────►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0" y="2651760"/>
            <a:ext cx="3931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FFB44D"/>
                </a:solidFill>
                <a:latin typeface="Menlo"/>
              </a:rPr>
              <a:t>TCP 445 (SMB)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0" y="3017520"/>
            <a:ext cx="3931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FFB44D"/>
                </a:solidFill>
                <a:latin typeface="Menlo"/>
              </a:rPr>
              <a:t>TCP 5985 (WinRM)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0" y="3383280"/>
            <a:ext cx="3931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FFB44D"/>
                </a:solidFill>
                <a:latin typeface="Menlo"/>
              </a:rPr>
              <a:t>user: phantomlab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321040" y="1645920"/>
            <a:ext cx="3200400" cy="2011680"/>
          </a:xfrm>
          <a:prstGeom prst="roundRect">
            <a:avLst/>
          </a:prstGeom>
          <a:solidFill>
            <a:srgbClr val="1A222C"/>
          </a:solidFill>
          <a:ln w="12700">
            <a:solidFill>
              <a:srgbClr val="FF4D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58200" y="1783080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4D5E"/>
                </a:solidFill>
                <a:latin typeface="Helvetica Neue"/>
              </a:rPr>
              <a:t>DESTINATION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58200" y="2148840"/>
            <a:ext cx="2926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ECEFF4"/>
                </a:solidFill>
                <a:latin typeface="Menlo"/>
              </a:rPr>
              <a:t>xdragent2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58200" y="2606040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9AA5B1"/>
                </a:solidFill>
                <a:latin typeface="Menlo"/>
              </a:rPr>
              <a:t>10.10.0.16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58200" y="3017520"/>
            <a:ext cx="29260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ECEFF4"/>
                </a:solidFill>
                <a:latin typeface="Helvetica Neue"/>
              </a:rPr>
              <a:t>wmiprvse.exe spawn</a:t>
            </a:r>
          </a:p>
          <a:p>
            <a:pPr algn="l"/>
            <a:r>
              <a:rPr sz="1300" b="0">
                <a:solidFill>
                  <a:srgbClr val="ECEFF4"/>
                </a:solidFill>
                <a:latin typeface="Helvetica Neue"/>
              </a:rPr>
              <a:t>marker file write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411480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FFB44D"/>
                </a:solidFill>
                <a:latin typeface="Helvetica Neue"/>
              </a:rPr>
              <a:t>NEXT PIVOTS FROM THIS VIEW: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448056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ECEFF4"/>
                </a:solidFill>
                <a:latin typeface="Helvetica Neue"/>
              </a:rPr>
              <a:t>• Destination node → Open Card → xdragent2's causality (wmiprvse → cmd → marker file write)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89204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ECEFF4"/>
                </a:solidFill>
                <a:latin typeface="Helvetica Neue"/>
              </a:rPr>
              <a:t>• Auth event → click User → phantomlab → User View (logon history across environment)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530352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ECEFF4"/>
                </a:solidFill>
                <a:latin typeface="Helvetica Neue"/>
              </a:rPr>
              <a:t>• Asset enrichment for accounts marked admin (this account shouldn't be lateral-active)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0"/>
            <a:ext cx="73152" cy="6858000"/>
          </a:xfrm>
          <a:prstGeom prst="rect">
            <a:avLst/>
          </a:prstGeom>
          <a:solidFill>
            <a:srgbClr val="B48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B48AFF"/>
                </a:solidFill>
                <a:latin typeface="Helvetica Neue"/>
              </a:rPr>
              <a:t>ACT 5 · XQL #2 — CROSS-HOST AUTH PROOF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ECEFF4"/>
                </a:solidFill>
                <a:latin typeface="Helvetica Neue"/>
              </a:rPr>
              <a:t>Confirm what Network Causality showed visually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645920"/>
            <a:ext cx="10881360" cy="2377440"/>
          </a:xfrm>
          <a:prstGeom prst="roundRect">
            <a:avLst/>
          </a:prstGeom>
          <a:solidFill>
            <a:srgbClr val="101822"/>
          </a:solidFill>
          <a:ln w="6350">
            <a:solidFill>
              <a:srgbClr val="9AA5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1737360"/>
            <a:ext cx="10661904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ECB8C"/>
                </a:solidFill>
                <a:latin typeface="Menlo"/>
              </a:rPr>
              <a:t>dataset = authentication</a:t>
            </a:r>
          </a:p>
          <a:p>
            <a:pPr algn="l"/>
            <a:r>
              <a:rPr sz="1400" b="0">
                <a:solidFill>
                  <a:srgbClr val="6ECB8C"/>
                </a:solidFill>
                <a:latin typeface="Menlo"/>
              </a:rPr>
              <a:t>| filter dst_host_name = "xdragent2"</a:t>
            </a:r>
          </a:p>
          <a:p>
            <a:pPr algn="l"/>
            <a:r>
              <a:rPr sz="1400" b="0">
                <a:solidFill>
                  <a:srgbClr val="6ECB8C"/>
                </a:solidFill>
                <a:latin typeface="Menlo"/>
              </a:rPr>
              <a:t>    and src_host_name = "xdragent"</a:t>
            </a:r>
          </a:p>
          <a:p>
            <a:pPr algn="l"/>
            <a:r>
              <a:rPr sz="1400" b="0">
                <a:solidFill>
                  <a:srgbClr val="6ECB8C"/>
                </a:solidFill>
                <a:latin typeface="Menlo"/>
              </a:rPr>
              <a:t>    and action_username = "phantomlab"</a:t>
            </a:r>
          </a:p>
          <a:p>
            <a:pPr algn="l"/>
            <a:r>
              <a:rPr sz="1400" b="0">
                <a:solidFill>
                  <a:srgbClr val="6ECB8C"/>
                </a:solidFill>
                <a:latin typeface="Menlo"/>
              </a:rPr>
              <a:t>    and _time &gt;= toepoch(&lt;op_start&gt;)</a:t>
            </a:r>
          </a:p>
          <a:p>
            <a:pPr algn="l"/>
            <a:r>
              <a:rPr sz="1400" b="0">
                <a:solidFill>
                  <a:srgbClr val="6ECB8C"/>
                </a:solidFill>
                <a:latin typeface="Menlo"/>
              </a:rPr>
              <a:t>| fields _time, authentication_protocol, action_username,</a:t>
            </a:r>
          </a:p>
          <a:p>
            <a:pPr algn="l"/>
            <a:r>
              <a:rPr sz="1400" b="0">
                <a:solidFill>
                  <a:srgbClr val="6ECB8C"/>
                </a:solidFill>
                <a:latin typeface="Menlo"/>
              </a:rPr>
              <a:t>    src_host_ip, dst_host_ip, action_outcome</a:t>
            </a:r>
          </a:p>
          <a:p>
            <a:pPr algn="l"/>
            <a:r>
              <a:rPr sz="1400" b="0">
                <a:solidFill>
                  <a:srgbClr val="6ECB8C"/>
                </a:solidFill>
                <a:latin typeface="Menlo"/>
              </a:rPr>
              <a:t>| sort _time desc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4297680"/>
            <a:ext cx="10881360" cy="2194560"/>
          </a:xfrm>
          <a:prstGeom prst="roundRect">
            <a:avLst/>
          </a:prstGeom>
          <a:solidFill>
            <a:srgbClr val="1A22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4434840"/>
            <a:ext cx="1033272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ECEFF4"/>
                </a:solidFill>
                <a:latin typeface="Helvetica Neue"/>
              </a:rPr>
              <a:t>Result will show: NTLM auth, succeeded, originating from 10.10.0.14, targeting 10.10.0.16.</a:t>
            </a:r>
          </a:p>
          <a:p>
            <a:pPr algn="l"/>
            <a:r>
              <a:rPr sz="1400" b="0">
                <a:solidFill>
                  <a:srgbClr val="ECEFF4"/>
                </a:solidFill>
                <a:latin typeface="Helvetica Neue"/>
              </a:rPr>
              <a:t/>
            </a:r>
          </a:p>
          <a:p>
            <a:pPr algn="l"/>
            <a:r>
              <a:rPr sz="1400" b="0">
                <a:solidFill>
                  <a:srgbClr val="ECEFF4"/>
                </a:solidFill>
                <a:latin typeface="Helvetica Neue"/>
              </a:rPr>
              <a:t>"Without cross-host correlation, my SOC sees TWO incidents — 'suspicious process on victim1' and 'suspicious WMI activity on victim2.' With XDR, it's ONE incident with the lateral edge between them.</a:t>
            </a:r>
          </a:p>
          <a:p>
            <a:pPr algn="l"/>
            <a:r>
              <a:rPr sz="1400" b="0">
                <a:solidFill>
                  <a:srgbClr val="ECEFF4"/>
                </a:solidFill>
                <a:latin typeface="Helvetica Neue"/>
              </a:rPr>
              <a:t/>
            </a:r>
          </a:p>
          <a:p>
            <a:pPr algn="l"/>
            <a:r>
              <a:rPr sz="1400" b="0">
                <a:solidFill>
                  <a:srgbClr val="ECEFF4"/>
                </a:solidFill>
                <a:latin typeface="Helvetica Neue"/>
              </a:rPr>
              <a:t>That's the difference between an analyst noticing a real attack vs. closing two low-priority alerts as 'unrelated.'"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0"/>
            <a:ext cx="73152" cy="6858000"/>
          </a:xfrm>
          <a:prstGeom prst="rect">
            <a:avLst/>
          </a:prstGeom>
          <a:solidFill>
            <a:srgbClr val="B48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B48AFF"/>
                </a:solidFill>
                <a:latin typeface="Helvetica Neue"/>
              </a:rPr>
              <a:t>ACT 6 · HARVEST + EXFIL (STEPS 17–20)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ECEFF4"/>
                </a:solidFill>
                <a:latin typeface="Helvetica Neue"/>
              </a:rPr>
              <a:t>All Events view → XQL #3 + #4 → Retrieve File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B48AFF"/>
                </a:solidFill>
                <a:latin typeface="Helvetica Neue"/>
              </a:rPr>
              <a:t>XQL #3 — DNS TUNNELING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5486400" cy="2377440"/>
          </a:xfrm>
          <a:prstGeom prst="roundRect">
            <a:avLst/>
          </a:prstGeom>
          <a:solidFill>
            <a:srgbClr val="101822"/>
          </a:solidFill>
          <a:ln w="6350">
            <a:solidFill>
              <a:srgbClr val="9AA5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1874520"/>
            <a:ext cx="5266944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6ECB8C"/>
                </a:solidFill>
                <a:latin typeface="Menlo"/>
              </a:rPr>
              <a:t>dataset = xdr_data</a:t>
            </a:r>
          </a:p>
          <a:p>
            <a:pPr algn="l"/>
            <a:r>
              <a:rPr sz="1100" b="0">
                <a:solidFill>
                  <a:srgbClr val="6ECB8C"/>
                </a:solidFill>
                <a:latin typeface="Menlo"/>
              </a:rPr>
              <a:t>| filter event_type = ENUM.DNS</a:t>
            </a:r>
          </a:p>
          <a:p>
            <a:pPr algn="l"/>
            <a:r>
              <a:rPr sz="1100" b="0">
                <a:solidFill>
                  <a:srgbClr val="6ECB8C"/>
                </a:solidFill>
                <a:latin typeface="Menlo"/>
              </a:rPr>
              <a:t>    and agent_hostname = "xdragent2"</a:t>
            </a:r>
          </a:p>
          <a:p>
            <a:pPr algn="l"/>
            <a:r>
              <a:rPr sz="1100" b="0">
                <a:solidFill>
                  <a:srgbClr val="6ECB8C"/>
                </a:solidFill>
                <a:latin typeface="Menlo"/>
              </a:rPr>
              <a:t>    and _time &gt;= toepoch(&lt;op_start&gt;)</a:t>
            </a:r>
          </a:p>
          <a:p>
            <a:pPr algn="l"/>
            <a:r>
              <a:rPr sz="1100" b="0">
                <a:solidFill>
                  <a:srgbClr val="6ECB8C"/>
                </a:solidFill>
                <a:latin typeface="Menlo"/>
              </a:rPr>
              <a:t>| comp count_distinct(dns_query_name)</a:t>
            </a:r>
          </a:p>
          <a:p>
            <a:pPr algn="l"/>
            <a:r>
              <a:rPr sz="1100" b="0">
                <a:solidFill>
                  <a:srgbClr val="6ECB8C"/>
                </a:solidFill>
                <a:latin typeface="Menlo"/>
              </a:rPr>
              <a:t>    as unique_subdomains by</a:t>
            </a:r>
          </a:p>
          <a:p>
            <a:pPr algn="l"/>
            <a:r>
              <a:rPr sz="1100" b="0">
                <a:solidFill>
                  <a:srgbClr val="6ECB8C"/>
                </a:solidFill>
                <a:latin typeface="Menlo"/>
              </a:rPr>
              <a:t>    bin(_time, 1m),</a:t>
            </a:r>
          </a:p>
          <a:p>
            <a:pPr algn="l"/>
            <a:r>
              <a:rPr sz="1100" b="0">
                <a:solidFill>
                  <a:srgbClr val="6ECB8C"/>
                </a:solidFill>
                <a:latin typeface="Menlo"/>
              </a:rPr>
              <a:t>    regextract(dns_query_name,</a:t>
            </a:r>
          </a:p>
          <a:p>
            <a:pPr algn="l"/>
            <a:r>
              <a:rPr sz="1100" b="0">
                <a:solidFill>
                  <a:srgbClr val="6ECB8C"/>
                </a:solidFill>
                <a:latin typeface="Menlo"/>
              </a:rPr>
              <a:t>      ".*\.(.*\..*\..*)$") as parent</a:t>
            </a:r>
          </a:p>
          <a:p>
            <a:pPr algn="l"/>
            <a:r>
              <a:rPr sz="1100" b="0">
                <a:solidFill>
                  <a:srgbClr val="6ECB8C"/>
                </a:solidFill>
                <a:latin typeface="Menlo"/>
              </a:rPr>
              <a:t>| filter unique_subdomains &gt;= 10</a:t>
            </a:r>
          </a:p>
          <a:p>
            <a:pPr algn="l"/>
            <a:r>
              <a:rPr sz="1100" b="0">
                <a:solidFill>
                  <a:srgbClr val="6ECB8C"/>
                </a:solidFill>
                <a:latin typeface="Menlo"/>
              </a:rPr>
              <a:t>| sort _time desc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46304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B48AFF"/>
                </a:solidFill>
                <a:latin typeface="Helvetica Neue"/>
              </a:rPr>
              <a:t>XQL #4 — ARCHIVE IN TEMP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1783080"/>
            <a:ext cx="5486400" cy="2377440"/>
          </a:xfrm>
          <a:prstGeom prst="roundRect">
            <a:avLst/>
          </a:prstGeom>
          <a:solidFill>
            <a:srgbClr val="101822"/>
          </a:solidFill>
          <a:ln w="6350">
            <a:solidFill>
              <a:srgbClr val="9AA5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10528" y="1874520"/>
            <a:ext cx="5266944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6ECB8C"/>
                </a:solidFill>
                <a:latin typeface="Menlo"/>
              </a:rPr>
              <a:t>dataset = xdr_data</a:t>
            </a:r>
          </a:p>
          <a:p>
            <a:pPr algn="l"/>
            <a:r>
              <a:rPr sz="1100" b="0">
                <a:solidFill>
                  <a:srgbClr val="6ECB8C"/>
                </a:solidFill>
                <a:latin typeface="Menlo"/>
              </a:rPr>
              <a:t>| filter event_type = ENUM.FILE</a:t>
            </a:r>
          </a:p>
          <a:p>
            <a:pPr algn="l"/>
            <a:r>
              <a:rPr sz="1100" b="0">
                <a:solidFill>
                  <a:srgbClr val="6ECB8C"/>
                </a:solidFill>
                <a:latin typeface="Menlo"/>
              </a:rPr>
              <a:t>    and event_sub_type = ENUM.FILE_CREATE_NEW</a:t>
            </a:r>
          </a:p>
          <a:p>
            <a:pPr algn="l"/>
            <a:r>
              <a:rPr sz="1100" b="0">
                <a:solidFill>
                  <a:srgbClr val="6ECB8C"/>
                </a:solidFill>
                <a:latin typeface="Menlo"/>
              </a:rPr>
              <a:t>    and action_file_extension = "zip"</a:t>
            </a:r>
          </a:p>
          <a:p>
            <a:pPr algn="l"/>
            <a:r>
              <a:rPr sz="1100" b="0">
                <a:solidFill>
                  <a:srgbClr val="6ECB8C"/>
                </a:solidFill>
                <a:latin typeface="Menlo"/>
              </a:rPr>
              <a:t>    and action_file_path contains "Temp"</a:t>
            </a:r>
          </a:p>
          <a:p>
            <a:pPr algn="l"/>
            <a:r>
              <a:rPr sz="1100" b="0">
                <a:solidFill>
                  <a:srgbClr val="6ECB8C"/>
                </a:solidFill>
                <a:latin typeface="Menlo"/>
              </a:rPr>
              <a:t>    and actor_process_image_name</a:t>
            </a:r>
          </a:p>
          <a:p>
            <a:pPr algn="l"/>
            <a:r>
              <a:rPr sz="1100" b="0">
                <a:solidFill>
                  <a:srgbClr val="6ECB8C"/>
                </a:solidFill>
                <a:latin typeface="Menlo"/>
              </a:rPr>
              <a:t>      = "powershell.exe"</a:t>
            </a:r>
          </a:p>
          <a:p>
            <a:pPr algn="l"/>
            <a:r>
              <a:rPr sz="1100" b="0">
                <a:solidFill>
                  <a:srgbClr val="6ECB8C"/>
                </a:solidFill>
                <a:latin typeface="Menlo"/>
              </a:rPr>
              <a:t>| fields _time, agent_hostname,</a:t>
            </a:r>
          </a:p>
          <a:p>
            <a:pPr algn="l"/>
            <a:r>
              <a:rPr sz="1100" b="0">
                <a:solidFill>
                  <a:srgbClr val="6ECB8C"/>
                </a:solidFill>
                <a:latin typeface="Menlo"/>
              </a:rPr>
              <a:t>    action_file_path, action_file_size,</a:t>
            </a:r>
          </a:p>
          <a:p>
            <a:pPr algn="l"/>
            <a:r>
              <a:rPr sz="1100" b="0">
                <a:solidFill>
                  <a:srgbClr val="6ECB8C"/>
                </a:solidFill>
                <a:latin typeface="Menlo"/>
              </a:rPr>
              <a:t>    actor_process_command_line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4389120"/>
            <a:ext cx="10881360" cy="2011680"/>
          </a:xfrm>
          <a:prstGeom prst="roundRect">
            <a:avLst/>
          </a:prstGeom>
          <a:solidFill>
            <a:srgbClr val="1A22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572000"/>
            <a:ext cx="10332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FFB44D"/>
                </a:solidFill>
                <a:latin typeface="Helvetica Neue"/>
              </a:rPr>
              <a:t>FORENSIC ACTION — Retrieve File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029200"/>
            <a:ext cx="1033272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ECEFF4"/>
                </a:solidFill>
                <a:latin typeface="Helvetica Neue"/>
              </a:rPr>
              <a:t>From any alert with the archive's path, click Retrieve File in the right-side action panel.</a:t>
            </a:r>
          </a:p>
          <a:p>
            <a:pPr algn="l"/>
            <a:r>
              <a:rPr sz="1400" b="0">
                <a:solidFill>
                  <a:srgbClr val="ECEFF4"/>
                </a:solidFill>
                <a:latin typeface="Helvetica Neue"/>
              </a:rPr>
              <a:t/>
            </a:r>
          </a:p>
          <a:p>
            <a:pPr algn="l"/>
            <a:r>
              <a:rPr sz="1400" b="0">
                <a:solidFill>
                  <a:srgbClr val="ECEFF4"/>
                </a:solidFill>
                <a:latin typeface="Helvetica Neue"/>
              </a:rPr>
              <a:t>"In a real investigation, I'd pull this zip back to forensics for inspection — verify what was actually staged for exfil. Don't have to image the disk."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0"/>
            <a:ext cx="73152" cy="6858000"/>
          </a:xfrm>
          <a:prstGeom prst="rect">
            <a:avLst/>
          </a:prstGeom>
          <a:solidFill>
            <a:srgbClr val="6EC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6ECB8C"/>
                </a:solidFill>
                <a:latin typeface="Helvetica Neue"/>
              </a:rPr>
              <a:t>ACT 7 · IMPACT + CLEANUP (STEPS 21–22)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ECEFF4"/>
                </a:solidFill>
                <a:latin typeface="Helvetica Neue"/>
              </a:rPr>
              <a:t>Security event 1102 — the smoking gun nobody can hide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554480"/>
            <a:ext cx="10881360" cy="2743200"/>
          </a:xfrm>
          <a:prstGeom prst="roundRect">
            <a:avLst/>
          </a:prstGeom>
          <a:solidFill>
            <a:srgbClr val="1A22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83080"/>
            <a:ext cx="10332720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>
                <a:solidFill>
                  <a:srgbClr val="ECEFF4"/>
                </a:solidFill>
                <a:latin typeface="Helvetica Neue"/>
              </a:rPr>
              <a:t>"Security event 1102 fires unconditionally on log clear — Microsoft built it specifically to flag this anti-forensics pattern.</a:t>
            </a:r>
          </a:p>
          <a:p>
            <a:pPr algn="l"/>
            <a:r>
              <a:rPr sz="1800" b="0">
                <a:solidFill>
                  <a:srgbClr val="ECEFF4"/>
                </a:solidFill>
                <a:latin typeface="Helvetica Neue"/>
              </a:rPr>
              <a:t/>
            </a:r>
          </a:p>
          <a:p>
            <a:pPr algn="l"/>
            <a:r>
              <a:rPr sz="1800" b="0">
                <a:solidFill>
                  <a:srgbClr val="ECEFF4"/>
                </a:solidFill>
                <a:latin typeface="Helvetica Neue"/>
              </a:rPr>
              <a:t>Even if the attacker cleared the rest of the Security log, THIS event lands in XDR before it's gone, because the Cortex XDR agent forwards in real time."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57200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FFB44D"/>
                </a:solidFill>
                <a:latin typeface="Helvetica Neue"/>
              </a:rPr>
              <a:t>OPEN THE LAST ALERT → ALL EVENTS — SHOW: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983480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9AA5B1"/>
                </a:solidFill>
                <a:latin typeface="Helvetica Neue"/>
              </a:rPr>
              <a:t>Event source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498348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ECEFF4"/>
                </a:solidFill>
                <a:latin typeface="Menlo"/>
              </a:rPr>
              <a:t>Security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394960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9AA5B1"/>
                </a:solidFill>
                <a:latin typeface="Helvetica Neue"/>
              </a:rPr>
              <a:t>Event ID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0" y="539496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ECB8C"/>
                </a:solidFill>
                <a:latin typeface="Menlo"/>
              </a:rPr>
              <a:t>1102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5806440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9AA5B1"/>
                </a:solidFill>
                <a:latin typeface="Helvetica Neue"/>
              </a:rPr>
              <a:t>Subject_username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40480" y="580644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ECEFF4"/>
                </a:solidFill>
                <a:latin typeface="Menlo"/>
              </a:rPr>
              <a:t>phantomlab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FFB44D"/>
                </a:solidFill>
                <a:latin typeface="Helvetica Neue"/>
              </a:rPr>
              <a:t>👉 subject_username = phantomlab — THE SAME ACCOUNT FROM THE LATERAL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0"/>
            <a:ext cx="73152" cy="6858000"/>
          </a:xfrm>
          <a:prstGeom prst="rect">
            <a:avLst/>
          </a:prstGeom>
          <a:solidFill>
            <a:srgbClr val="6EC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6ECB8C"/>
                </a:solidFill>
                <a:latin typeface="Helvetica Neue"/>
              </a:rPr>
              <a:t>THE COMPLETE ATTRIBUTION CHAIN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ECEFF4"/>
                </a:solidFill>
                <a:latin typeface="Helvetica Neue"/>
              </a:rPr>
              <a:t>From phishing email to wiped event log — one story</a:t>
            </a:r>
          </a:p>
        </p:txBody>
      </p:sp>
      <p:sp>
        <p:nvSpPr>
          <p:cNvPr id="5" name="Oval 4"/>
          <p:cNvSpPr/>
          <p:nvPr/>
        </p:nvSpPr>
        <p:spPr>
          <a:xfrm>
            <a:off x="822960" y="1691640"/>
            <a:ext cx="365760" cy="365760"/>
          </a:xfrm>
          <a:prstGeom prst="ellipse">
            <a:avLst/>
          </a:prstGeom>
          <a:solidFill>
            <a:srgbClr val="FF4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0F141A"/>
                </a:solidFill>
                <a:latin typeface="Helvetica Neue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73736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ECEFF4"/>
                </a:solidFill>
                <a:latin typeface="Helvetica Neue"/>
              </a:rPr>
              <a:t>Phishing email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0" y="173736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9AA5B1"/>
                </a:solidFill>
                <a:latin typeface="Menlo"/>
              </a:rPr>
              <a:t>WINWORD → cmd.exe spawn</a:t>
            </a:r>
          </a:p>
        </p:txBody>
      </p:sp>
      <p:sp>
        <p:nvSpPr>
          <p:cNvPr id="8" name="Oval 7"/>
          <p:cNvSpPr/>
          <p:nvPr/>
        </p:nvSpPr>
        <p:spPr>
          <a:xfrm>
            <a:off x="822960" y="2240280"/>
            <a:ext cx="365760" cy="365760"/>
          </a:xfrm>
          <a:prstGeom prst="ellipse">
            <a:avLst/>
          </a:prstGeom>
          <a:solidFill>
            <a:srgbClr val="FFB4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0F141A"/>
                </a:solidFill>
                <a:latin typeface="Helvetica Neue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228600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ECEFF4"/>
                </a:solidFill>
                <a:latin typeface="Helvetica Neue"/>
              </a:rPr>
              <a:t>Implant beacon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0" y="228600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9AA5B1"/>
                </a:solidFill>
                <a:latin typeface="Menlo"/>
              </a:rPr>
              <a:t>mars.exe HTTP outbound (Act 1)</a:t>
            </a:r>
          </a:p>
        </p:txBody>
      </p:sp>
      <p:sp>
        <p:nvSpPr>
          <p:cNvPr id="11" name="Oval 10"/>
          <p:cNvSpPr/>
          <p:nvPr/>
        </p:nvSpPr>
        <p:spPr>
          <a:xfrm>
            <a:off x="822960" y="2788920"/>
            <a:ext cx="365760" cy="365760"/>
          </a:xfrm>
          <a:prstGeom prst="ellipse">
            <a:avLst/>
          </a:prstGeom>
          <a:solidFill>
            <a:srgbClr val="FF4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0F141A"/>
                </a:solidFill>
                <a:latin typeface="Helvetica Neue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283464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ECEFF4"/>
                </a:solidFill>
                <a:latin typeface="Helvetica Neue"/>
              </a:rPr>
              <a:t>Credential dump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0" y="283464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9AA5B1"/>
                </a:solidFill>
                <a:latin typeface="Menlo"/>
              </a:rPr>
              <a:t>rundll32 → LSASS handle (Act 2)</a:t>
            </a:r>
          </a:p>
        </p:txBody>
      </p:sp>
      <p:sp>
        <p:nvSpPr>
          <p:cNvPr id="14" name="Oval 13"/>
          <p:cNvSpPr/>
          <p:nvPr/>
        </p:nvSpPr>
        <p:spPr>
          <a:xfrm>
            <a:off x="822960" y="3337560"/>
            <a:ext cx="365760" cy="365760"/>
          </a:xfrm>
          <a:prstGeom prst="ellipse">
            <a:avLst/>
          </a:prstGeom>
          <a:solidFill>
            <a:srgbClr val="FFB4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0F141A"/>
                </a:solidFill>
                <a:latin typeface="Helvetica Neue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25880" y="338328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ECEFF4"/>
                </a:solidFill>
                <a:latin typeface="Helvetica Neue"/>
              </a:rPr>
              <a:t>Defender silenced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0" y="338328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9AA5B1"/>
                </a:solidFill>
                <a:latin typeface="Menlo"/>
              </a:rPr>
              <a:t>Operational 5001 captured anyway (Act 3)</a:t>
            </a:r>
          </a:p>
        </p:txBody>
      </p:sp>
      <p:sp>
        <p:nvSpPr>
          <p:cNvPr id="17" name="Oval 16"/>
          <p:cNvSpPr/>
          <p:nvPr/>
        </p:nvSpPr>
        <p:spPr>
          <a:xfrm>
            <a:off x="822960" y="3886200"/>
            <a:ext cx="365760" cy="365760"/>
          </a:xfrm>
          <a:prstGeom prst="ellipse">
            <a:avLst/>
          </a:prstGeom>
          <a:solidFill>
            <a:srgbClr val="FF4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0F141A"/>
                </a:solidFill>
                <a:latin typeface="Helvetica Neue"/>
              </a:rP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25880" y="393192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ECEFF4"/>
                </a:solidFill>
                <a:latin typeface="Helvetica Neue"/>
              </a:rPr>
              <a:t>Persistence trio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0" y="393192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9AA5B1"/>
                </a:solidFill>
                <a:latin typeface="Menlo"/>
              </a:rPr>
              <a:t>User · Run key · Scheduled task (Act 4)</a:t>
            </a:r>
          </a:p>
        </p:txBody>
      </p:sp>
      <p:sp>
        <p:nvSpPr>
          <p:cNvPr id="20" name="Oval 19"/>
          <p:cNvSpPr/>
          <p:nvPr/>
        </p:nvSpPr>
        <p:spPr>
          <a:xfrm>
            <a:off x="822960" y="4434840"/>
            <a:ext cx="365760" cy="365760"/>
          </a:xfrm>
          <a:prstGeom prst="ellipse">
            <a:avLst/>
          </a:prstGeom>
          <a:solidFill>
            <a:srgbClr val="FFB4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0F141A"/>
                </a:solidFill>
                <a:latin typeface="Helvetica Neue"/>
              </a:rPr>
              <a:t>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25880" y="448056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ECEFF4"/>
                </a:solidFill>
                <a:latin typeface="Helvetica Neue"/>
              </a:rPr>
              <a:t>Lateral to victim2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0" y="448056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9AA5B1"/>
                </a:solidFill>
                <a:latin typeface="Menlo"/>
              </a:rPr>
              <a:t>phantomlab via SMB + WinRM (Act 5)</a:t>
            </a:r>
          </a:p>
        </p:txBody>
      </p:sp>
      <p:sp>
        <p:nvSpPr>
          <p:cNvPr id="23" name="Oval 22"/>
          <p:cNvSpPr/>
          <p:nvPr/>
        </p:nvSpPr>
        <p:spPr>
          <a:xfrm>
            <a:off x="822960" y="4983480"/>
            <a:ext cx="365760" cy="365760"/>
          </a:xfrm>
          <a:prstGeom prst="ellipse">
            <a:avLst/>
          </a:prstGeom>
          <a:solidFill>
            <a:srgbClr val="FF4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0F141A"/>
                </a:solidFill>
                <a:latin typeface="Helvetica Neue"/>
              </a:rPr>
              <a:t>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25880" y="502920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ECEFF4"/>
                </a:solidFill>
                <a:latin typeface="Helvetica Neue"/>
              </a:rPr>
              <a:t>Stage + exfil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0" y="502920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9AA5B1"/>
                </a:solidFill>
                <a:latin typeface="Menlo"/>
              </a:rPr>
              <a:t>Compress-Archive → HTTP POST (Act 6)</a:t>
            </a:r>
          </a:p>
        </p:txBody>
      </p:sp>
      <p:sp>
        <p:nvSpPr>
          <p:cNvPr id="26" name="Oval 25"/>
          <p:cNvSpPr/>
          <p:nvPr/>
        </p:nvSpPr>
        <p:spPr>
          <a:xfrm>
            <a:off x="822960" y="5532120"/>
            <a:ext cx="365760" cy="365760"/>
          </a:xfrm>
          <a:prstGeom prst="ellipse">
            <a:avLst/>
          </a:prstGeom>
          <a:solidFill>
            <a:srgbClr val="FFB4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0F141A"/>
                </a:solidFill>
                <a:latin typeface="Helvetica Neue"/>
              </a:rPr>
              <a:t>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25880" y="557784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ECEFF4"/>
                </a:solidFill>
                <a:latin typeface="Helvetica Neue"/>
              </a:rPr>
              <a:t>Anti-forensics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0" y="557784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9AA5B1"/>
                </a:solidFill>
                <a:latin typeface="Menlo"/>
              </a:rPr>
              <a:t>Security 1102 — wevtutil cl Security (Act 7)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626364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6ECB8C"/>
                </a:solidFill>
                <a:latin typeface="Helvetica Neue"/>
              </a:rPr>
              <a:t>"ONE story, ONE incident, traceable end to end. THAT is what XDR is supposed to do."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0"/>
            <a:ext cx="73152" cy="6858000"/>
          </a:xfrm>
          <a:prstGeom prst="rect">
            <a:avLst/>
          </a:prstGeom>
          <a:solidFill>
            <a:srgbClr val="4F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4FA8FF"/>
                </a:solidFill>
                <a:latin typeface="Helvetica Neue"/>
              </a:rPr>
              <a:t>RESPONSE PHASE · CLOSE THE LOOP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ECEFF4"/>
                </a:solidFill>
                <a:latin typeface="Helvetica Neue"/>
              </a:rPr>
              <a:t>Demonstrate · don't necessarily execute everything</a:t>
            </a:r>
          </a:p>
        </p:txBody>
      </p:sp>
      <p:sp>
        <p:nvSpPr>
          <p:cNvPr id="5" name="Oval 4"/>
          <p:cNvSpPr/>
          <p:nvPr/>
        </p:nvSpPr>
        <p:spPr>
          <a:xfrm>
            <a:off x="640080" y="1737360"/>
            <a:ext cx="457200" cy="457200"/>
          </a:xfrm>
          <a:prstGeom prst="ellipse">
            <a:avLst/>
          </a:prstGeom>
          <a:solidFill>
            <a:srgbClr val="4F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0F141A"/>
                </a:solidFill>
                <a:latin typeface="Helvetica Neue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164592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ECEFF4"/>
                </a:solidFill>
                <a:latin typeface="Helvetica Neue"/>
              </a:rPr>
              <a:t>Isolate Endpoint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0" y="164592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FFB44D"/>
                </a:solidFill>
                <a:latin typeface="Menlo"/>
              </a:rPr>
              <a:t>Asset view → Initiate Response Action → Isolate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205740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9AA5B1"/>
                </a:solidFill>
                <a:latin typeface="Helvetica Neue"/>
              </a:rPr>
              <a:t>Cuts the host off the network in seconds. End user still has the workstation but can't reach corp resources OR C2.</a:t>
            </a:r>
          </a:p>
        </p:txBody>
      </p:sp>
      <p:sp>
        <p:nvSpPr>
          <p:cNvPr id="9" name="Oval 8"/>
          <p:cNvSpPr/>
          <p:nvPr/>
        </p:nvSpPr>
        <p:spPr>
          <a:xfrm>
            <a:off x="640080" y="2651760"/>
            <a:ext cx="457200" cy="457200"/>
          </a:xfrm>
          <a:prstGeom prst="ellipse">
            <a:avLst/>
          </a:prstGeom>
          <a:solidFill>
            <a:srgbClr val="4F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0F141A"/>
                </a:solidFill>
                <a:latin typeface="Helvetica Neue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256032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ECEFF4"/>
                </a:solidFill>
                <a:latin typeface="Helvetica Neue"/>
              </a:rPr>
              <a:t>Live Terminal cleanup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0" y="256032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FFB44D"/>
                </a:solidFill>
                <a:latin typeface="Menlo"/>
              </a:rPr>
              <a:t>Live Terminal → run the cleanup snippet (next slide)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297180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9AA5B1"/>
                </a:solidFill>
                <a:latin typeface="Helvetica Neue"/>
              </a:rPr>
              <a:t>Now we use the tool we previewed in Act 4.</a:t>
            </a:r>
          </a:p>
        </p:txBody>
      </p:sp>
      <p:sp>
        <p:nvSpPr>
          <p:cNvPr id="13" name="Oval 12"/>
          <p:cNvSpPr/>
          <p:nvPr/>
        </p:nvSpPr>
        <p:spPr>
          <a:xfrm>
            <a:off x="640080" y="3566160"/>
            <a:ext cx="457200" cy="457200"/>
          </a:xfrm>
          <a:prstGeom prst="ellipse">
            <a:avLst/>
          </a:prstGeom>
          <a:solidFill>
            <a:srgbClr val="4F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0F141A"/>
                </a:solidFill>
                <a:latin typeface="Helvetica Neue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347472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ECEFF4"/>
                </a:solidFill>
                <a:latin typeface="Helvetica Neue"/>
              </a:rPr>
              <a:t>Search &amp; Destroy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0" y="347472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FFB44D"/>
                </a:solidFill>
                <a:latin typeface="Menlo"/>
              </a:rPr>
              <a:t>For staged exfil zip + mars.exe implant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388620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9AA5B1"/>
                </a:solidFill>
                <a:latin typeface="Helvetica Neue"/>
              </a:rPr>
              <a:t>Wipes the artifacts across both hosts.</a:t>
            </a:r>
          </a:p>
        </p:txBody>
      </p:sp>
      <p:sp>
        <p:nvSpPr>
          <p:cNvPr id="17" name="Oval 16"/>
          <p:cNvSpPr/>
          <p:nvPr/>
        </p:nvSpPr>
        <p:spPr>
          <a:xfrm>
            <a:off x="640080" y="4480560"/>
            <a:ext cx="457200" cy="457200"/>
          </a:xfrm>
          <a:prstGeom prst="ellipse">
            <a:avLst/>
          </a:prstGeom>
          <a:solidFill>
            <a:srgbClr val="4F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0F141A"/>
                </a:solidFill>
                <a:latin typeface="Helvetica Neue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34440" y="438912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ECEFF4"/>
                </a:solidFill>
                <a:latin typeface="Helvetica Neue"/>
              </a:rPr>
              <a:t>XSOAR Playbook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0" y="438912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FFB44D"/>
                </a:solidFill>
                <a:latin typeface="Menlo"/>
              </a:rPr>
              <a:t>Run Playbook on the incident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34440" y="480060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9AA5B1"/>
                </a:solidFill>
                <a:latin typeface="Helvetica Neue"/>
              </a:rPr>
              <a:t>Auto-isolation + password reset + IR notification, one click.</a:t>
            </a:r>
          </a:p>
        </p:txBody>
      </p:sp>
      <p:sp>
        <p:nvSpPr>
          <p:cNvPr id="21" name="Oval 20"/>
          <p:cNvSpPr/>
          <p:nvPr/>
        </p:nvSpPr>
        <p:spPr>
          <a:xfrm>
            <a:off x="640080" y="5394960"/>
            <a:ext cx="457200" cy="457200"/>
          </a:xfrm>
          <a:prstGeom prst="ellipse">
            <a:avLst/>
          </a:prstGeom>
          <a:solidFill>
            <a:srgbClr val="4F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0F141A"/>
                </a:solidFill>
                <a:latin typeface="Helvetica Neue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34440" y="530352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ECEFF4"/>
                </a:solidFill>
                <a:latin typeface="Helvetica Neue"/>
              </a:rPr>
              <a:t>Close incident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0" y="530352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FFB44D"/>
                </a:solidFill>
                <a:latin typeface="Menlo"/>
              </a:rPr>
              <a:t>Resolution Status: Resolved Threat Handled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34440" y="571500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9AA5B1"/>
                </a:solidFill>
                <a:latin typeface="Helvetica Neue"/>
              </a:rPr>
              <a:t>Add notes referencing the demo's findings.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0"/>
            <a:ext cx="73152" cy="6858000"/>
          </a:xfrm>
          <a:prstGeom prst="rect">
            <a:avLst/>
          </a:prstGeom>
          <a:solidFill>
            <a:srgbClr val="4F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4FA8FF"/>
                </a:solidFill>
                <a:latin typeface="Helvetica Neue"/>
              </a:rPr>
              <a:t>LIVE TERMINAL CLEANUP — ACTUALLY RUN THIS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ECEFF4"/>
                </a:solidFill>
                <a:latin typeface="Helvetica Neue"/>
              </a:rPr>
              <a:t>One-shot remediation of the persistence trio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645920"/>
            <a:ext cx="10881360" cy="3291840"/>
          </a:xfrm>
          <a:prstGeom prst="roundRect">
            <a:avLst/>
          </a:prstGeom>
          <a:solidFill>
            <a:srgbClr val="101822"/>
          </a:solidFill>
          <a:ln w="6350">
            <a:solidFill>
              <a:srgbClr val="9AA5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1737360"/>
            <a:ext cx="10661904" cy="3108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6ECB8C"/>
                </a:solidFill>
                <a:latin typeface="Menlo"/>
              </a:rPr>
              <a:t># Remove the Run key planted in Act 4</a:t>
            </a:r>
          </a:p>
          <a:p>
            <a:pPr algn="l"/>
            <a:r>
              <a:rPr sz="1300" b="0">
                <a:solidFill>
                  <a:srgbClr val="6ECB8C"/>
                </a:solidFill>
                <a:latin typeface="Menlo"/>
              </a:rPr>
              <a:t>Remove-ItemProperty -Path 'HKCU:\Software\Microsoft\Windows\CurrentVersion\Run' \</a:t>
            </a:r>
          </a:p>
          <a:p>
            <a:pPr algn="l"/>
            <a:r>
              <a:rPr sz="1300" b="0">
                <a:solidFill>
                  <a:srgbClr val="6ECB8C"/>
                </a:solidFill>
                <a:latin typeface="Menlo"/>
              </a:rPr>
              <a:t>    -Name PhantomUpdater</a:t>
            </a:r>
          </a:p>
          <a:p>
            <a:pPr algn="l"/>
            <a:r>
              <a:rPr sz="1300" b="0">
                <a:solidFill>
                  <a:srgbClr val="6ECB8C"/>
                </a:solidFill>
                <a:latin typeface="Menlo"/>
              </a:rPr>
              <a:t/>
            </a:r>
          </a:p>
          <a:p>
            <a:pPr algn="l"/>
            <a:r>
              <a:rPr sz="1300" b="0">
                <a:solidFill>
                  <a:srgbClr val="6ECB8C"/>
                </a:solidFill>
                <a:latin typeface="Menlo"/>
              </a:rPr>
              <a:t># Delete the scheduled task</a:t>
            </a:r>
          </a:p>
          <a:p>
            <a:pPr algn="l"/>
            <a:r>
              <a:rPr sz="1300" b="0">
                <a:solidFill>
                  <a:srgbClr val="6ECB8C"/>
                </a:solidFill>
                <a:latin typeface="Menlo"/>
              </a:rPr>
              <a:t>schtasks /Delete /TN PhantomMaintenance /F</a:t>
            </a:r>
          </a:p>
          <a:p>
            <a:pPr algn="l"/>
            <a:r>
              <a:rPr sz="1300" b="0">
                <a:solidFill>
                  <a:srgbClr val="6ECB8C"/>
                </a:solidFill>
                <a:latin typeface="Menlo"/>
              </a:rPr>
              <a:t/>
            </a:r>
          </a:p>
          <a:p>
            <a:pPr algn="l"/>
            <a:r>
              <a:rPr sz="1300" b="0">
                <a:solidFill>
                  <a:srgbClr val="6ECB8C"/>
                </a:solidFill>
                <a:latin typeface="Menlo"/>
              </a:rPr>
              <a:t># Delete the rogue local user</a:t>
            </a:r>
          </a:p>
          <a:p>
            <a:pPr algn="l"/>
            <a:r>
              <a:rPr sz="1300" b="0">
                <a:solidFill>
                  <a:srgbClr val="6ECB8C"/>
                </a:solidFill>
                <a:latin typeface="Menlo"/>
              </a:rPr>
              <a:t>net user T1136.001_PowerShell /Delete</a:t>
            </a:r>
          </a:p>
          <a:p>
            <a:pPr algn="l"/>
            <a:r>
              <a:rPr sz="1300" b="0">
                <a:solidFill>
                  <a:srgbClr val="6ECB8C"/>
                </a:solidFill>
                <a:latin typeface="Menlo"/>
              </a:rPr>
              <a:t/>
            </a:r>
          </a:p>
          <a:p>
            <a:pPr algn="l"/>
            <a:r>
              <a:rPr sz="1300" b="0">
                <a:solidFill>
                  <a:srgbClr val="6ECB8C"/>
                </a:solidFill>
                <a:latin typeface="Menlo"/>
              </a:rPr>
              <a:t># Re-enable Defender real-time monitoring</a:t>
            </a:r>
          </a:p>
          <a:p>
            <a:pPr algn="l"/>
            <a:r>
              <a:rPr sz="1300" b="0">
                <a:solidFill>
                  <a:srgbClr val="6ECB8C"/>
                </a:solidFill>
                <a:latin typeface="Menlo"/>
              </a:rPr>
              <a:t>Set-MpPreference -DisableRealtimeMonitoring $false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21208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FFB44D"/>
                </a:solidFill>
                <a:latin typeface="Helvetica Neue"/>
              </a:rPr>
              <a:t>WHILE THE OPERATOR-FACING TERMINAL RUNS: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577840"/>
            <a:ext cx="109728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ECEFF4"/>
                </a:solidFill>
                <a:latin typeface="Helvetica Neue"/>
              </a:rPr>
              <a:t>"Notice I'm not RDP-ing in. I'm not asking the desktop team for access. This is signed PowerShell running through the XDR agent channel. Every command runs in the host's own context — but the audit trail of WHAT I ran lives in XDR's Live Terminal history for the incident report."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0"/>
            <a:ext cx="73152" cy="6858000"/>
          </a:xfrm>
          <a:prstGeom prst="rect">
            <a:avLst/>
          </a:prstGeom>
          <a:solidFill>
            <a:srgbClr val="FFB4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FFB44D"/>
                </a:solidFill>
                <a:latin typeface="Helvetica Neue"/>
              </a:rPr>
              <a:t>LIKELY Q&amp;A — QUICK ANSWERS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ECEFF4"/>
                </a:solidFill>
                <a:latin typeface="Helvetica Neue"/>
              </a:rPr>
              <a:t>Anticipate the doubts; have one-liners ready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B44D"/>
                </a:solidFill>
                <a:latin typeface="Helvetica Neue"/>
              </a:rPr>
              <a:t>Q: How would you have noticed if the attacker had been quieter?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920240"/>
            <a:ext cx="107899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ECEFF4"/>
                </a:solidFill>
                <a:latin typeface="Helvetica Neue"/>
              </a:rPr>
              <a:t>→ Behavioral analytics on the discovery burst (Act 2) fires regardless of Defender's state. XDR's detection isn't dependent on AV remaining alive.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56032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B44D"/>
                </a:solidFill>
                <a:latin typeface="Helvetica Neue"/>
              </a:rPr>
              <a:t>Q: What if the attacker uses encrypted C2?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926080"/>
            <a:ext cx="107899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ECEFF4"/>
                </a:solidFill>
                <a:latin typeface="Helvetica Neue"/>
              </a:rPr>
              <a:t>→ DNS tunneling (Act 6) and volumetric outbound (Act 6) are still visible. We lose payload inspection but keep behavioral signal.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56616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B44D"/>
                </a:solidFill>
                <a:latin typeface="Helvetica Neue"/>
              </a:rPr>
              <a:t>Q: Could you have caught this earlier?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931920"/>
            <a:ext cx="107899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ECEFF4"/>
                </a:solidFill>
                <a:latin typeface="Helvetica Neue"/>
              </a:rPr>
              <a:t>→ The phishing email's macro execution (Act 1 step 2) is the first hard signal. With managed detection, this fires within seconds of macro spawn — pre-emptive isolate possible.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57200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B44D"/>
                </a:solidFill>
                <a:latin typeface="Helvetica Neue"/>
              </a:rPr>
              <a:t>Q: How does this scale to 10,000 endpoints?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4937760"/>
            <a:ext cx="107899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ECEFF4"/>
                </a:solidFill>
                <a:latin typeface="Helvetica Neue"/>
              </a:rPr>
              <a:t>→ XQL hunts. The queries I showed run across the whole environment in seconds. Pin them as scheduled hunts → continuous detections.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557784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B44D"/>
                </a:solidFill>
                <a:latin typeface="Helvetica Neue"/>
              </a:rPr>
              <a:t>Q: Where's XSIAM in this picture?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5943600"/>
            <a:ext cx="107899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ECEFF4"/>
                </a:solidFill>
                <a:latin typeface="Helvetica Neue"/>
              </a:rPr>
              <a:t>→ Same data, different prioritization layer. XDR shows you the incident; XSIAM auto-clusters incidents from this attack class + suggests playbooks.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0"/>
            <a:ext cx="73152" cy="6858000"/>
          </a:xfrm>
          <a:prstGeom prst="rect">
            <a:avLst/>
          </a:prstGeom>
          <a:solidFill>
            <a:srgbClr val="B48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B48AFF"/>
                </a:solidFill>
                <a:latin typeface="Helvetica Neue"/>
              </a:rPr>
              <a:t>XQL REFERENCE — SAVE THESE TO YOUR LIBRARY BEFORE THE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ECEFF4"/>
                </a:solidFill>
                <a:latin typeface="Helvetica Neue"/>
              </a:rPr>
              <a:t>Pin to Query Builder · Saved Queries · open by name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B48AFF"/>
                </a:solidFill>
                <a:latin typeface="Menlo"/>
              </a:rPr>
              <a:t>#1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554480"/>
            <a:ext cx="2560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ECEFF4"/>
                </a:solidFill>
                <a:latin typeface="Helvetica Neue"/>
              </a:rPr>
              <a:t>Discovery burst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794760" y="1600200"/>
            <a:ext cx="8138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ECB8C"/>
                </a:solidFill>
                <a:latin typeface="Menlo"/>
              </a:rPr>
              <a:t>xdr_data | filter event_type=ENUM.PROCESS_START and actor in (powershell, cmd) and action in (whoami, net, systeminfo, arp, netstat, route, cmdkey)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103120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B48AFF"/>
                </a:solidFill>
                <a:latin typeface="Menlo"/>
              </a:rPr>
              <a:t>#2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2103120"/>
            <a:ext cx="2560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ECEFF4"/>
                </a:solidFill>
                <a:latin typeface="Helvetica Neue"/>
              </a:rPr>
              <a:t>LSASS minidump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94760" y="2148840"/>
            <a:ext cx="8138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ECB8C"/>
                </a:solidFill>
                <a:latin typeface="Menlo"/>
              </a:rPr>
              <a:t>xdr_data | filter event_type=ENUM.PROCESS_ACCESS and target_image_name='lsass.exe' and actor='rundll32.exe'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651760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B48AFF"/>
                </a:solidFill>
                <a:latin typeface="Menlo"/>
              </a:rPr>
              <a:t>#3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2651760"/>
            <a:ext cx="2560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ECEFF4"/>
                </a:solidFill>
                <a:latin typeface="Helvetica Neue"/>
              </a:rPr>
              <a:t>Defender disable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94760" y="2697480"/>
            <a:ext cx="8138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ECB8C"/>
                </a:solidFill>
                <a:latin typeface="Menlo"/>
              </a:rPr>
              <a:t>xdr_data | filter event_type=ENUM.REGISTRY and registry_path contains 'Windows Defender' and registry_value_name='DisableAntiSpyware'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200400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B48AFF"/>
                </a:solidFill>
                <a:latin typeface="Menlo"/>
              </a:rPr>
              <a:t>#4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3200400"/>
            <a:ext cx="2560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ECEFF4"/>
                </a:solidFill>
                <a:latin typeface="Helvetica Neue"/>
              </a:rPr>
              <a:t>Lateral SMB+WinRM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94760" y="3246120"/>
            <a:ext cx="8138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ECB8C"/>
                </a:solidFill>
                <a:latin typeface="Menlo"/>
              </a:rPr>
              <a:t>authentication | filter dst_host_name='xdragent2' and src_host_name='xdragent' and action_username='phantomlab'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3749040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B48AFF"/>
                </a:solidFill>
                <a:latin typeface="Menlo"/>
              </a:rPr>
              <a:t>#5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" y="3749040"/>
            <a:ext cx="2560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ECEFF4"/>
                </a:solidFill>
                <a:latin typeface="Helvetica Neue"/>
              </a:rPr>
              <a:t>DNS tunneling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94760" y="3794760"/>
            <a:ext cx="8138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ECB8C"/>
                </a:solidFill>
                <a:latin typeface="Menlo"/>
              </a:rPr>
              <a:t>xdr_data | filter event_type=ENUM.DNS | comp count_distinct(dns_query_name) by bin(_time,1m), parent_domain | filter unique &gt;= 10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4297680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B48AFF"/>
                </a:solidFill>
                <a:latin typeface="Menlo"/>
              </a:rPr>
              <a:t>#6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3000" y="4297680"/>
            <a:ext cx="2560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ECEFF4"/>
                </a:solidFill>
                <a:latin typeface="Helvetica Neue"/>
              </a:rPr>
              <a:t>Archive in TEMP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94760" y="4343400"/>
            <a:ext cx="8138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ECB8C"/>
                </a:solidFill>
                <a:latin typeface="Menlo"/>
              </a:rPr>
              <a:t>xdr_data | filter event_type=ENUM.FILE and action_file_extension='zip' and action_file_path contains 'Temp'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4846320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B48AFF"/>
                </a:solidFill>
                <a:latin typeface="Menlo"/>
              </a:rPr>
              <a:t>#7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43000" y="4846320"/>
            <a:ext cx="2560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ECEFF4"/>
                </a:solidFill>
                <a:latin typeface="Helvetica Neue"/>
              </a:rPr>
              <a:t>Security 1102 backstop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794760" y="4892040"/>
            <a:ext cx="8138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ECB8C"/>
                </a:solidFill>
                <a:latin typeface="Menlo"/>
              </a:rPr>
              <a:t>xdr_data | filter event_type=ENUM.EVENT_LOG and event_id=1102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0"/>
            <a:ext cx="73152" cy="6858000"/>
          </a:xfrm>
          <a:prstGeom prst="rect">
            <a:avLst/>
          </a:prstGeom>
          <a:solidFill>
            <a:srgbClr val="6EC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6ECB8C"/>
                </a:solidFill>
                <a:latin typeface="Helvetica Neue"/>
              </a:rPr>
              <a:t>DEMO COMPLETE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9728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1">
                <a:solidFill>
                  <a:srgbClr val="ECEFF4"/>
                </a:solidFill>
                <a:latin typeface="Helvetica Neue"/>
              </a:rPr>
              <a:t>One incident.</a:t>
            </a:r>
          </a:p>
          <a:p>
            <a:pPr algn="l"/>
            <a:r>
              <a:rPr sz="4400" b="1">
                <a:solidFill>
                  <a:srgbClr val="ECEFF4"/>
                </a:solidFill>
                <a:latin typeface="Helvetica Neue"/>
              </a:rPr>
              <a:t>One investigator.</a:t>
            </a:r>
          </a:p>
          <a:p>
            <a:pPr algn="l"/>
            <a:r>
              <a:rPr sz="4400" b="1">
                <a:solidFill>
                  <a:srgbClr val="ECEFF4"/>
                </a:solidFill>
                <a:latin typeface="Helvetica Neue"/>
              </a:rPr>
              <a:t>One console.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4114800"/>
            <a:ext cx="10881360" cy="1828800"/>
          </a:xfrm>
          <a:prstGeom prst="roundRect">
            <a:avLst/>
          </a:prstGeom>
          <a:solidFill>
            <a:srgbClr val="1A22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4297680"/>
            <a:ext cx="1033272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ECEFF4"/>
                </a:solidFill>
                <a:latin typeface="Helvetica Neue"/>
              </a:rPr>
              <a:t>Cortex XDR turned 22 attacker steps across 2 endpoints into ONE investigative story — visible end-to-end, from phishing macro to wiped event log, in about 8 minutes of analyst time.</a:t>
            </a:r>
          </a:p>
          <a:p>
            <a:pPr algn="l"/>
            <a:r>
              <a:rPr sz="1500" b="0">
                <a:solidFill>
                  <a:srgbClr val="ECEFF4"/>
                </a:solidFill>
                <a:latin typeface="Helvetica Neue"/>
              </a:rPr>
              <a:t/>
            </a:r>
          </a:p>
          <a:p>
            <a:pPr algn="l"/>
            <a:r>
              <a:rPr sz="1500" b="0">
                <a:solidFill>
                  <a:srgbClr val="ECEFF4"/>
                </a:solidFill>
                <a:latin typeface="Helvetica Neue"/>
              </a:rPr>
              <a:t>The alternative is what most SOCs still live with today: 22+ disconnected alerts across 6 tools, dispatched to different analysts, none of whom see the lateral edge.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26364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9AA5B1"/>
                </a:solidFill>
                <a:latin typeface="Helvetica Neue"/>
              </a:rPr>
              <a:t>Sources: docs-cortex.paloaltonetworks.com · MITRE ATT&amp;CK · Cortex XQL reference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