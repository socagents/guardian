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C16B"/>
                </a:solidFill>
                <a:latin typeface="Calibri"/>
              </a:rPr>
              <a:t>Cortex XDR: </a:t>
            </a:r>
            <a:r>
              <a:rPr sz="2800" b="1">
                <a:solidFill>
                  <a:srgbClr val="FFFFFF"/>
                </a:solidFill>
                <a:latin typeface="Calibri"/>
              </a:rPr>
              <a:t>Incident Response — One Case, Five Surfaces</a:t>
            </a:r>
          </a:p>
        </p:txBody>
      </p:sp>
      <p:sp>
        <p:nvSpPr>
          <p:cNvPr id="3" name="Oval 2"/>
          <p:cNvSpPr/>
          <p:nvPr/>
        </p:nvSpPr>
        <p:spPr>
          <a:xfrm>
            <a:off x="365760" y="1737360"/>
            <a:ext cx="4114800" cy="2286000"/>
          </a:xfrm>
          <a:prstGeom prst="ellipse">
            <a:avLst/>
          </a:prstGeom>
          <a:solidFill>
            <a:srgbClr val="12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1554480"/>
            <a:ext cx="4114800" cy="2468880"/>
          </a:xfrm>
          <a:prstGeom prst="ellipse">
            <a:avLst/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0" y="1737360"/>
            <a:ext cx="4114800" cy="2286000"/>
          </a:xfrm>
          <a:prstGeom prst="ellipse">
            <a:avLst/>
          </a:prstGeom>
          <a:solidFill>
            <a:srgbClr val="12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069080" y="822960"/>
            <a:ext cx="1920240" cy="1920240"/>
          </a:xfrm>
          <a:prstGeom prst="ellipse">
            <a:avLst/>
          </a:prstGeom>
          <a:solidFill>
            <a:srgbClr val="00C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0" y="868680"/>
            <a:ext cx="1828800" cy="1828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804A"/>
                </a:solidFill>
                <a:latin typeface="Calibri"/>
              </a:rPr>
              <a:t>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00200"/>
            <a:ext cx="18288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00000"/>
                </a:solidFill>
                <a:latin typeface="Calibri"/>
              </a:rPr>
              <a:t>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0804A"/>
                </a:solidFill>
                <a:latin typeface="Calibri"/>
              </a:rPr>
              <a:t>in Cortex XDR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" y="2788920"/>
            <a:ext cx="1691640" cy="1828800"/>
          </a:xfrm>
          <a:prstGeom prst="roundRect">
            <a:avLst>
              <a:gd name="adj" fmla="val 6000"/>
            </a:avLst>
          </a:prstGeom>
          <a:solidFill>
            <a:srgbClr val="121418"/>
          </a:solidFill>
          <a:ln w="6350">
            <a:solidFill>
              <a:srgbClr val="333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9284" y="2363724"/>
            <a:ext cx="850392" cy="850392"/>
          </a:xfrm>
          <a:prstGeom prst="ellipse">
            <a:avLst/>
          </a:prstGeom>
          <a:solidFill>
            <a:srgbClr val="00C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5860" y="2400300"/>
            <a:ext cx="777240" cy="777240"/>
          </a:xfrm>
          <a:prstGeom prst="ellipse">
            <a:avLst/>
          </a:prstGeom>
          <a:solidFill>
            <a:srgbClr val="12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5860" y="2400300"/>
            <a:ext cx="7772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0C16B"/>
                </a:solidFill>
                <a:latin typeface="Calibri"/>
              </a:rPr>
              <a:t>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227832"/>
            <a:ext cx="150876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Issues &amp; Insights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813048"/>
            <a:ext cx="365760" cy="19050"/>
          </a:xfrm>
          <a:prstGeom prst="rect">
            <a:avLst/>
          </a:prstGeom>
          <a:solidFill>
            <a:srgbClr val="00C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" y="3904488"/>
            <a:ext cx="1472184" cy="6858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>
                <a:solidFill>
                  <a:srgbClr val="CBD5E1"/>
                </a:solidFill>
                <a:latin typeface="Calibri"/>
              </a:rPr>
              <a:t>· Sortable table of all issues</a:t>
            </a:r>
          </a:p>
          <a:p>
            <a:pPr algn="l">
              <a:lnSpc>
                <a:spcPct val="125000"/>
              </a:lnSpc>
            </a:pPr>
            <a:r>
              <a:rPr sz="850">
                <a:solidFill>
                  <a:srgbClr val="CBD5E1"/>
                </a:solidFill>
                <a:latin typeface="Calibri"/>
              </a:rPr>
              <a:t>· Low-severity insights surfaced</a:t>
            </a:r>
          </a:p>
          <a:p>
            <a:pPr algn="l">
              <a:lnSpc>
                <a:spcPct val="125000"/>
              </a:lnSpc>
            </a:pPr>
            <a:r>
              <a:rPr sz="850">
                <a:solidFill>
                  <a:srgbClr val="CBD5E1"/>
                </a:solidFill>
                <a:latin typeface="Calibri"/>
              </a:rPr>
              <a:t>· Drill to detail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46020" y="2788920"/>
            <a:ext cx="1691640" cy="1828800"/>
          </a:xfrm>
          <a:prstGeom prst="roundRect">
            <a:avLst>
              <a:gd name="adj" fmla="val 6000"/>
            </a:avLst>
          </a:prstGeom>
          <a:solidFill>
            <a:srgbClr val="121418"/>
          </a:solidFill>
          <a:ln w="6350">
            <a:solidFill>
              <a:srgbClr val="333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66644" y="2363724"/>
            <a:ext cx="850392" cy="850392"/>
          </a:xfrm>
          <a:prstGeom prst="ellipse">
            <a:avLst/>
          </a:prstGeom>
          <a:solidFill>
            <a:srgbClr val="00C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03220" y="2400300"/>
            <a:ext cx="777240" cy="777240"/>
          </a:xfrm>
          <a:prstGeom prst="ellipse">
            <a:avLst/>
          </a:prstGeom>
          <a:solidFill>
            <a:srgbClr val="12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03220" y="2400300"/>
            <a:ext cx="7772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0C16B"/>
                </a:solidFill>
                <a:latin typeface="Calibri"/>
              </a:rPr>
              <a:t>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37460" y="3227832"/>
            <a:ext cx="150876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Case Timeline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3813048"/>
            <a:ext cx="365760" cy="19050"/>
          </a:xfrm>
          <a:prstGeom prst="rect">
            <a:avLst/>
          </a:prstGeom>
          <a:solidFill>
            <a:srgbClr val="00C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55748" y="3904488"/>
            <a:ext cx="1472184" cy="6858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>
                <a:solidFill>
                  <a:srgbClr val="CBD5E1"/>
                </a:solidFill>
                <a:latin typeface="Calibri"/>
              </a:rPr>
              <a:t>· Issues added via causality</a:t>
            </a:r>
          </a:p>
          <a:p>
            <a:pPr algn="l">
              <a:lnSpc>
                <a:spcPct val="125000"/>
              </a:lnSpc>
            </a:pPr>
            <a:r>
              <a:rPr sz="850">
                <a:solidFill>
                  <a:srgbClr val="CBD5E1"/>
                </a:solidFill>
                <a:latin typeface="Calibri"/>
              </a:rPr>
              <a:t>· Analyst action log</a:t>
            </a:r>
          </a:p>
          <a:p>
            <a:pPr algn="l">
              <a:lnSpc>
                <a:spcPct val="125000"/>
              </a:lnSpc>
            </a:pPr>
            <a:r>
              <a:rPr sz="850">
                <a:solidFill>
                  <a:srgbClr val="CBD5E1"/>
                </a:solidFill>
                <a:latin typeface="Calibri"/>
              </a:rPr>
              <a:t>· Chronological 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83380" y="2788920"/>
            <a:ext cx="1691640" cy="1828800"/>
          </a:xfrm>
          <a:prstGeom prst="roundRect">
            <a:avLst>
              <a:gd name="adj" fmla="val 6000"/>
            </a:avLst>
          </a:prstGeom>
          <a:solidFill>
            <a:srgbClr val="121418"/>
          </a:solidFill>
          <a:ln w="6350">
            <a:solidFill>
              <a:srgbClr val="333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04004" y="2363724"/>
            <a:ext cx="850392" cy="850392"/>
          </a:xfrm>
          <a:prstGeom prst="ellipse">
            <a:avLst/>
          </a:prstGeom>
          <a:solidFill>
            <a:srgbClr val="00C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40580" y="2400300"/>
            <a:ext cx="777240" cy="777240"/>
          </a:xfrm>
          <a:prstGeom prst="ellipse">
            <a:avLst/>
          </a:prstGeom>
          <a:solidFill>
            <a:srgbClr val="12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0580" y="2400300"/>
            <a:ext cx="7772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0C16B"/>
                </a:solidFill>
                <a:latin typeface="Calibri"/>
              </a:rPr>
              <a:t>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4820" y="3227832"/>
            <a:ext cx="150876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Causality Chain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813048"/>
            <a:ext cx="365760" cy="19050"/>
          </a:xfrm>
          <a:prstGeom prst="rect">
            <a:avLst/>
          </a:prstGeom>
          <a:solidFill>
            <a:srgbClr val="00C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3108" y="3904488"/>
            <a:ext cx="1472184" cy="6858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>
                <a:solidFill>
                  <a:srgbClr val="CBD5E1"/>
                </a:solidFill>
                <a:latin typeface="Calibri"/>
              </a:rPr>
              <a:t>· Process tree + forensics highlights</a:t>
            </a:r>
          </a:p>
          <a:p>
            <a:pPr algn="l">
              <a:lnSpc>
                <a:spcPct val="125000"/>
              </a:lnSpc>
            </a:pPr>
            <a:r>
              <a:rPr sz="850">
                <a:solidFill>
                  <a:srgbClr val="CBD5E1"/>
                </a:solidFill>
                <a:latin typeface="Calibri"/>
              </a:rPr>
              <a:t>· Event details + observables</a:t>
            </a:r>
          </a:p>
          <a:p>
            <a:pPr algn="l">
              <a:lnSpc>
                <a:spcPct val="125000"/>
              </a:lnSpc>
            </a:pPr>
            <a:r>
              <a:rPr sz="850">
                <a:solidFill>
                  <a:srgbClr val="CBD5E1"/>
                </a:solidFill>
                <a:latin typeface="Calibri"/>
              </a:rPr>
              <a:t>· Live Terminal on endpoint</a:t>
            </a:r>
          </a:p>
          <a:p>
            <a:pPr algn="l">
              <a:lnSpc>
                <a:spcPct val="125000"/>
              </a:lnSpc>
            </a:pPr>
            <a:r>
              <a:rPr sz="850">
                <a:solidFill>
                  <a:srgbClr val="CBD5E1"/>
                </a:solidFill>
                <a:latin typeface="Calibri"/>
              </a:rPr>
              <a:t>· Response actions from chain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20740" y="2788920"/>
            <a:ext cx="1691640" cy="1828800"/>
          </a:xfrm>
          <a:prstGeom prst="roundRect">
            <a:avLst>
              <a:gd name="adj" fmla="val 6000"/>
            </a:avLst>
          </a:prstGeom>
          <a:solidFill>
            <a:srgbClr val="121418"/>
          </a:solidFill>
          <a:ln w="6350">
            <a:solidFill>
              <a:srgbClr val="333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41364" y="2363724"/>
            <a:ext cx="850392" cy="850392"/>
          </a:xfrm>
          <a:prstGeom prst="ellipse">
            <a:avLst/>
          </a:prstGeom>
          <a:solidFill>
            <a:srgbClr val="00C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77940" y="2400300"/>
            <a:ext cx="777240" cy="777240"/>
          </a:xfrm>
          <a:prstGeom prst="ellipse">
            <a:avLst/>
          </a:prstGeom>
          <a:solidFill>
            <a:srgbClr val="12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7940" y="2400300"/>
            <a:ext cx="7772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0C16B"/>
                </a:solidFill>
                <a:latin typeface="Calibri"/>
              </a:rPr>
              <a:t>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12180" y="3227832"/>
            <a:ext cx="150876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Response &amp; Containment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3813048"/>
            <a:ext cx="365760" cy="19050"/>
          </a:xfrm>
          <a:prstGeom prst="rect">
            <a:avLst/>
          </a:prstGeom>
          <a:solidFill>
            <a:srgbClr val="00C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0468" y="3904488"/>
            <a:ext cx="1472184" cy="6858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>
                <a:solidFill>
                  <a:srgbClr val="CBD5E1"/>
                </a:solidFill>
                <a:latin typeface="Calibri"/>
              </a:rPr>
              <a:t>· Block file hash globally</a:t>
            </a:r>
          </a:p>
          <a:p>
            <a:pPr algn="l">
              <a:lnSpc>
                <a:spcPct val="125000"/>
              </a:lnSpc>
            </a:pPr>
            <a:r>
              <a:rPr sz="850">
                <a:solidFill>
                  <a:srgbClr val="CBD5E1"/>
                </a:solidFill>
                <a:latin typeface="Calibri"/>
              </a:rPr>
              <a:t>· Isolate endpoint</a:t>
            </a:r>
          </a:p>
          <a:p>
            <a:pPr algn="l">
              <a:lnSpc>
                <a:spcPct val="125000"/>
              </a:lnSpc>
            </a:pPr>
            <a:r>
              <a:rPr sz="850">
                <a:solidFill>
                  <a:srgbClr val="CBD5E1"/>
                </a:solidFill>
                <a:latin typeface="Calibri"/>
              </a:rPr>
              <a:t>· Quarantine artifact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58100" y="2788920"/>
            <a:ext cx="1691640" cy="1828800"/>
          </a:xfrm>
          <a:prstGeom prst="roundRect">
            <a:avLst>
              <a:gd name="adj" fmla="val 6000"/>
            </a:avLst>
          </a:prstGeom>
          <a:solidFill>
            <a:srgbClr val="121418"/>
          </a:solidFill>
          <a:ln w="6350">
            <a:solidFill>
              <a:srgbClr val="333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078724" y="2363724"/>
            <a:ext cx="850392" cy="850392"/>
          </a:xfrm>
          <a:prstGeom prst="ellipse">
            <a:avLst/>
          </a:prstGeom>
          <a:solidFill>
            <a:srgbClr val="00C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115300" y="2400300"/>
            <a:ext cx="777240" cy="777240"/>
          </a:xfrm>
          <a:prstGeom prst="ellipse">
            <a:avLst/>
          </a:prstGeom>
          <a:solidFill>
            <a:srgbClr val="12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15300" y="2400300"/>
            <a:ext cx="777240" cy="7772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0C16B"/>
                </a:solidFill>
                <a:latin typeface="Calibri"/>
              </a:rPr>
              <a:t>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49540" y="3227832"/>
            <a:ext cx="150876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Collaboration &amp; Automation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3813048"/>
            <a:ext cx="365760" cy="19050"/>
          </a:xfrm>
          <a:prstGeom prst="rect">
            <a:avLst/>
          </a:prstGeom>
          <a:solidFill>
            <a:srgbClr val="00C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67828" y="3904488"/>
            <a:ext cx="1472184" cy="6858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>
                <a:solidFill>
                  <a:srgbClr val="CBD5E1"/>
                </a:solidFill>
                <a:latin typeface="Calibri"/>
              </a:rPr>
              <a:t>· Case + Issue war rooms</a:t>
            </a:r>
          </a:p>
          <a:p>
            <a:pPr algn="l">
              <a:lnSpc>
                <a:spcPct val="125000"/>
              </a:lnSpc>
            </a:pPr>
            <a:r>
              <a:rPr sz="850">
                <a:solidFill>
                  <a:srgbClr val="CBD5E1"/>
                </a:solidFill>
                <a:latin typeface="Calibri"/>
              </a:rPr>
              <a:t>· Playbooks for response</a:t>
            </a:r>
          </a:p>
          <a:p>
            <a:pPr algn="l">
              <a:lnSpc>
                <a:spcPct val="125000"/>
              </a:lnSpc>
            </a:pPr>
            <a:r>
              <a:rPr sz="850">
                <a:solidFill>
                  <a:srgbClr val="CBD5E1"/>
                </a:solidFill>
                <a:latin typeface="Calibri"/>
              </a:rPr>
              <a:t>· Multi-analyst handoffs</a:t>
            </a:r>
          </a:p>
        </p:txBody>
      </p:sp>
      <p:sp>
        <p:nvSpPr>
          <p:cNvPr id="46" name="Up Arrow 45"/>
          <p:cNvSpPr/>
          <p:nvPr/>
        </p:nvSpPr>
        <p:spPr>
          <a:xfrm>
            <a:off x="1371600" y="4690872"/>
            <a:ext cx="365760" cy="292608"/>
          </a:xfrm>
          <a:prstGeom prst="upArrow">
            <a:avLst/>
          </a:prstGeom>
          <a:solidFill>
            <a:srgbClr val="00C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Up Arrow 46"/>
          <p:cNvSpPr/>
          <p:nvPr/>
        </p:nvSpPr>
        <p:spPr>
          <a:xfrm>
            <a:off x="3108960" y="4690872"/>
            <a:ext cx="365760" cy="292608"/>
          </a:xfrm>
          <a:prstGeom prst="upArrow">
            <a:avLst/>
          </a:prstGeom>
          <a:solidFill>
            <a:srgbClr val="00C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Up Arrow 47"/>
          <p:cNvSpPr/>
          <p:nvPr/>
        </p:nvSpPr>
        <p:spPr>
          <a:xfrm>
            <a:off x="4846320" y="4690872"/>
            <a:ext cx="365760" cy="292608"/>
          </a:xfrm>
          <a:prstGeom prst="upArrow">
            <a:avLst/>
          </a:prstGeom>
          <a:solidFill>
            <a:srgbClr val="00C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Up Arrow 48"/>
          <p:cNvSpPr/>
          <p:nvPr/>
        </p:nvSpPr>
        <p:spPr>
          <a:xfrm>
            <a:off x="6583680" y="4690872"/>
            <a:ext cx="365760" cy="292608"/>
          </a:xfrm>
          <a:prstGeom prst="upArrow">
            <a:avLst/>
          </a:prstGeom>
          <a:solidFill>
            <a:srgbClr val="00C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Up Arrow 49"/>
          <p:cNvSpPr/>
          <p:nvPr/>
        </p:nvSpPr>
        <p:spPr>
          <a:xfrm>
            <a:off x="8321040" y="4690872"/>
            <a:ext cx="365760" cy="292608"/>
          </a:xfrm>
          <a:prstGeom prst="upArrow">
            <a:avLst/>
          </a:prstGeom>
          <a:solidFill>
            <a:srgbClr val="00C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65760" y="5120640"/>
            <a:ext cx="9326880" cy="114300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9050">
            <a:solidFill>
              <a:srgbClr val="00C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8660" y="5212080"/>
            <a:ext cx="1691640" cy="38404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00C16B"/>
                </a:solidFill>
                <a:latin typeface="Calibri"/>
              </a:rPr>
              <a:t>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" y="5632704"/>
            <a:ext cx="16916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Users &amp; Assets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8660" y="5888736"/>
            <a:ext cx="16916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94A3B8"/>
                </a:solidFill>
                <a:latin typeface="Calibri"/>
              </a:rPr>
              <a:t>Entity pivot from case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46020" y="5212080"/>
            <a:ext cx="1691640" cy="38404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00C16B"/>
                </a:solidFill>
                <a:latin typeface="Calibri"/>
              </a:rPr>
              <a:t>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46020" y="5632704"/>
            <a:ext cx="16916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File Hash View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46020" y="5888736"/>
            <a:ext cx="16916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94A3B8"/>
                </a:solidFill>
                <a:latin typeface="Calibri"/>
              </a:rPr>
              <a:t>Artifact-centric drill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83380" y="5212080"/>
            <a:ext cx="1691640" cy="38404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00C16B"/>
                </a:solidFill>
                <a:latin typeface="Calibri"/>
              </a:rPr>
              <a:t>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83380" y="5632704"/>
            <a:ext cx="16916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XQL Search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83380" y="5888736"/>
            <a:ext cx="16916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94A3B8"/>
                </a:solidFill>
                <a:latin typeface="Calibri"/>
              </a:rPr>
              <a:t>Hunt sibling activity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20740" y="5212080"/>
            <a:ext cx="1691640" cy="38404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00C16B"/>
                </a:solidFill>
                <a:latin typeface="Calibri"/>
              </a:rPr>
              <a:t>⌖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20740" y="5632704"/>
            <a:ext cx="16916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Forensics Module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20740" y="5888736"/>
            <a:ext cx="16916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94A3B8"/>
                </a:solidFill>
                <a:latin typeface="Calibri"/>
              </a:rPr>
              <a:t>Deep-triage on demand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58100" y="5212080"/>
            <a:ext cx="1691640" cy="38404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00C16B"/>
                </a:solidFill>
                <a:latin typeface="Calibri"/>
              </a:rPr>
              <a:t>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58100" y="5632704"/>
            <a:ext cx="16916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MITRE Tactics + Tech.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58100" y="5888736"/>
            <a:ext cx="16916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94A3B8"/>
                </a:solidFill>
                <a:latin typeface="Calibri"/>
              </a:rPr>
              <a:t>ATT&amp;CK map of issues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29800" y="1188720"/>
            <a:ext cx="2103120" cy="12700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29800" y="1280160"/>
            <a:ext cx="21031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Find the Root Cause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29800" y="1783080"/>
            <a:ext cx="21031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in One Screen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829800" y="2697480"/>
            <a:ext cx="1682496" cy="12700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829800" y="2926080"/>
            <a:ext cx="21031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Act Without Leaving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29800" y="3429000"/>
            <a:ext cx="21031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the Console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829800" y="4343400"/>
            <a:ext cx="1682496" cy="12700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29800" y="4572000"/>
            <a:ext cx="21031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Collaborate +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29800" y="5074920"/>
            <a:ext cx="21031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Automate Response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5760" y="6565392"/>
            <a:ext cx="1143000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94A3B8"/>
                </a:solidFill>
                <a:latin typeface="Calibri"/>
              </a:rPr>
              <a:t>Cortex XDR IR Workshop  ·  Investigation surfaces analysts use to work an incident case end-to-end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