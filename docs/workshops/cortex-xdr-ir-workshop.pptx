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7315200"/>
            <a:ext cx="12191695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10972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HANDS-ON WORKSHOP  ·  SOC / IR PRACTITIONERS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1645920"/>
            <a:ext cx="109728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Incident Response with Cortex XDR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0175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Driving a real attack chain end-to-end through XDR's investigation surfaces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10698480" cy="13716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34340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SIMULATED ADVERSARY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61772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Phantom Master Killchain  ·  22 abilities  ·  9 MITRE tactics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Validated against Cortex XDR cases 1794 + 1795 — 140+ alerts across 22 techniques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Phantom platform  ·  v0.6.x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WORKSHOP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you'll walk out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Five concrete capabilities you'll use on a real attack chain — not slides about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731520" cy="86868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73152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1828800"/>
            <a:ext cx="9829800" cy="868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901952"/>
            <a:ext cx="9646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Trace an alert to its root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40280"/>
            <a:ext cx="9646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Use the causality view to follow a process tree from a single Cortex alert back to its initial-access ancestor — Spearphishing Attachment in our case.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70632"/>
            <a:ext cx="731520" cy="86868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70632"/>
            <a:ext cx="73152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2770632"/>
            <a:ext cx="9829800" cy="868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843784"/>
            <a:ext cx="9646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Hunt across the data plane with XQL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82112"/>
            <a:ext cx="9646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Write XQL queries that pivot off an IOC from the causality view and find sibling activity the alerts didn't surface — 800+ catalogued fields, cross-data-source.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12464"/>
            <a:ext cx="731520" cy="86868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12464"/>
            <a:ext cx="73152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7320" y="3712464"/>
            <a:ext cx="9829800" cy="868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3785616"/>
            <a:ext cx="9646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Drive a case through the new 5.0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23944"/>
            <a:ext cx="9646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Triage, prioritize, assign, document, and close a multi-stage incident. Use the AI Case Investigation agent to summarize signals + recommend next steps.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4296"/>
            <a:ext cx="731520" cy="86868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54296"/>
            <a:ext cx="73152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654296"/>
            <a:ext cx="9829800" cy="868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727448"/>
            <a:ext cx="9646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Contain a compromised host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065776"/>
            <a:ext cx="9646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Isolate the endpoint, block the file hash, open Live Terminal, terminate the process tree, quarantine artifacts — all from the same console.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96128"/>
            <a:ext cx="731520" cy="86868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596128"/>
            <a:ext cx="731520" cy="8686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7320" y="5596128"/>
            <a:ext cx="9829800" cy="868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5669280"/>
            <a:ext cx="96469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Read MITRE coverage from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6007608"/>
            <a:ext cx="9646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Map the 22 alerts produced by the simulation onto the ATT&amp;CK matrix and understand which tactics XDR's analytics actually fired 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1  ·  THE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simulation — Phantom Master Killchain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22 chained abilities that mirror a real ransomware operation — Spearphishing → C2 → Defacement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Caldera abilities chained in atomic ordering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82880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92024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60604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MITRE ATT&amp;CK tactics covered end-to-end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Distinct techniques exercised on the 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329184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20" y="329184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38328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140+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06908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Alerts surfaced in Cortex incidents 1794 + 1795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Cross-host lateral movement (xdragent ↔ xdragent2)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754880"/>
            <a:ext cx="3474720" cy="13258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4754880"/>
            <a:ext cx="73152" cy="1325880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846320"/>
            <a:ext cx="32004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000" b="1">
                <a:solidFill>
                  <a:srgbClr val="FA582D"/>
                </a:solidFill>
                <a:latin typeface="Calibri"/>
              </a:rPr>
              <a:t>88.6%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532120"/>
            <a:ext cx="3200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Chain-quality rate validated against XDR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1828800"/>
            <a:ext cx="3840480" cy="42062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19202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ATTACK CHAIN PHASES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3317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2402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Initial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4688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Phishing macro drops Caldera implant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889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6974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9260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Account / system / share enumeration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2461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1546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Credential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3832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LSASS dump + PowerKatz + cached creds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37033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6118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Priv. Esc. + Persistence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8404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Fodhelper UAC bypass + run key + scheduled task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1605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0690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Defense Evasion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2976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Disable Defender + certutil decode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6177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5262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Lateral Movement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7548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SMB + WMI + WinRM to second host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0749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49834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Collection + Exfil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2120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Auto-collection + archive + DNS C2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532120"/>
            <a:ext cx="36576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54406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Impact + Cleanup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5669280"/>
            <a:ext cx="31089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Defacement + clear event 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1  · 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MITRE ATT&amp;CK coverage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Each row is a tactic the simulation exercises — each cell is a technique with a real Caldera ability behind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8288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TACTIC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91640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ATT&amp;CK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TECHNIQUES EXERCISED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02536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02536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Initial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02536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02536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T1566.001 Spearphishing Attachment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0506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313432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13432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313432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313432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T1059.001 PowerShell  ·  T1059.003 Windows Command Shell  ·  T1204 User 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81402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624328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24328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624328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624328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T1136.001 Local Account  ·  T1547.001 Registry Run Key  ·  T1053.005 Scheduled Task  ·  T1574.002 DLL Side-Load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92298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2935224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935224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Priv. Esc.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35224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935224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T1548.002 Fodhelper UAC Bypass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3194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246120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46120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Defense Evasion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3246120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246120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T1562.001 Disable Defender  ·  T1140 Certutil Decode  ·  T1132 Data Encoding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14090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3557016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57016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Cred.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3557016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3557016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T1003.001 LSASS Memory  ·  T1003.004 LSA Secrets  ·  T1003.005 Cached Creds  ·  T1555 Credential 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24986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3867912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867912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3867912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3867912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T1087.001 Local Account  ·  T1082 System Info  ·  T1018 Remote System  ·  T1135 Network Share  ·  T1518.001 AV/EDR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135882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4178808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178808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Lateral Mvmt.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4178808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178808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T1021.002 SMB/Admin Shares  ·  T1550 Pass-the-Hash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46778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4489704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489704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Collection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4489704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4489704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T1119 Automated Collection  ·  T1560 Archive Collected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57674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48640" y="4800600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800600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4800600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4800600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T1071.004 DNS  ·  T1197 BITS Jobs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068570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48640" y="5111496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111496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Exfil.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68880" y="5111496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5111496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T1041 Exfil over C2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379466"/>
            <a:ext cx="11064240" cy="635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48640" y="5422392"/>
            <a:ext cx="1645920" cy="23774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422392"/>
            <a:ext cx="1645920" cy="237744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8880" y="5422392"/>
            <a:ext cx="82296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TA0040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5422392"/>
            <a:ext cx="8229600" cy="310896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T1491 Defacement  ·  T1070.001 Clear Event 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742432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FA582D"/>
                </a:solidFill>
                <a:latin typeface="Calibri"/>
              </a:rPr>
              <a:t>Every row above produced at least one Cortex XDR alert in incidents 1794 + 1795 — this is verified telemetry, not a wishlist.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2 · XDR CAPABILITY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Causality view — find the root cause in one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Cortex's process-tree visualization. Every alert traces back to a process node; nodes carry visual verdict.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486400" cy="146304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Every Cortex XDR alert has a causality chain — a directed graph of process nodes (the things that ran) and executions (RPC, code injection, file I/O between them) that led to the detection.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Nodes carry verdict-colored outlines: red for malicious processes, blue for benign per WildFire. Analysts read the chain end-to-end to identify the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WHAT YOU CAN DO ON A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486400" cy="201168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Investigate further (drill into telemetry)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Timeline view — chronological events around the node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Add hash to allow / block list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Search the file across all endpoints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Terminate the process — live, on the agent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Quarantine the file artifact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LIVE EXAMPLE  ·  INCIDENT 1794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Causality chain produced by the phishing dropper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743200"/>
            <a:ext cx="73152" cy="50292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39712" y="2743200"/>
            <a:ext cx="4407408" cy="50292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779776"/>
            <a:ext cx="24643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WINWORD.EXE (masqueraded)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4896" y="2798064"/>
            <a:ext cx="1702612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06D6A0"/>
                </a:solidFill>
                <a:latin typeface="Calibri"/>
              </a:rPr>
              <a:t>BENIGN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999232"/>
            <a:ext cx="42062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Phishing attachment opens — initial-access trigger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961120" y="3255264"/>
            <a:ext cx="91440" cy="10972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3383280"/>
            <a:ext cx="73152" cy="50292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39712" y="3383280"/>
            <a:ext cx="4407408" cy="50292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419856"/>
            <a:ext cx="24643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cmd.exe /c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3438144"/>
            <a:ext cx="1702612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06D6A0"/>
                </a:solidFill>
                <a:latin typeface="Calibri"/>
              </a:rPr>
              <a:t>BENIGN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639312"/>
            <a:ext cx="42062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Macro spawns shell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961120" y="3895344"/>
            <a:ext cx="91440" cy="10972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0" y="4023360"/>
            <a:ext cx="73152" cy="50292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9712" y="4023360"/>
            <a:ext cx="4407408" cy="50292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059936"/>
            <a:ext cx="24643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powershell.exe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4078224"/>
            <a:ext cx="1702612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E63A46"/>
                </a:solidFill>
                <a:latin typeface="Calibri"/>
              </a:rPr>
              <a:t>MALICIOUS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279392"/>
            <a:ext cx="42062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Encoded command runs (T1059.001)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961120" y="4535424"/>
            <a:ext cx="91440" cy="10972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66560" y="4663440"/>
            <a:ext cx="73152" cy="50292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39712" y="4663440"/>
            <a:ext cx="4407408" cy="50292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700016"/>
            <a:ext cx="24643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bitsadmin /transfer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4718304"/>
            <a:ext cx="1702612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E63A46"/>
                </a:solidFill>
                <a:latin typeface="Calibri"/>
              </a:rPr>
              <a:t>MALICIOUS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919472"/>
            <a:ext cx="42062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BITS job downloads dropper (T1197)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8961120" y="5175504"/>
            <a:ext cx="91440" cy="10972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5303520"/>
            <a:ext cx="73152" cy="50292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39712" y="5303520"/>
            <a:ext cx="4407408" cy="50292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5340096"/>
            <a:ext cx="2464308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mars.exe (Caldera implant)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4896" y="5358384"/>
            <a:ext cx="1702612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1">
                <a:solidFill>
                  <a:srgbClr val="E63A46"/>
                </a:solidFill>
                <a:latin typeface="Calibri"/>
              </a:rPr>
              <a:t>MALICIOUS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60" y="5559552"/>
            <a:ext cx="420624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Sandcat beacon comes alive — C2 established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2 · XDR CAPABILITY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XQL search — hunt beyond what the alerts surfaced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800+ catalogued fields · regex + JSON · merge data across endpoint / network / cloud /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WHEN YOU REACH FOR XQL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4572000" cy="39319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An alert fires — you want to find every OTHER host running the same encoded PowerShell.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A causality node looks suspicious but didn't trigger analytics — you need to pivot off the parent PID + binary hash.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Threat-intel drops an IOC at 2am — you need to scope its blast radius across the estate before you wake up the team.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You're writing a new analytic rule and want to test the query against 30 days of telemetry first.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CBD5E1"/>
                </a:solidFill>
                <a:latin typeface="Calibri"/>
              </a:rPr>
              <a:t>·  Compromise assessment — your customer asks 'are we already in?' for a TTP that fired on a peer.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828800"/>
            <a:ext cx="6035040" cy="42976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96596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EXAMPLE — HUNT THE SIMULATION'S BITS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286000"/>
            <a:ext cx="603504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Find every host where bitsadmin.exe transferred a file in the last 24h: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743200"/>
            <a:ext cx="5486400" cy="1783080"/>
          </a:xfrm>
          <a:prstGeom prst="rect">
            <a:avLst/>
          </a:prstGeom>
          <a:solidFill>
            <a:srgbClr val="0F1419"/>
          </a:solidFill>
          <a:ln w="6350">
            <a:solidFill>
              <a:srgbClr val="33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834640"/>
            <a:ext cx="5212080" cy="160020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dataset = xdr_data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| filter event_type = ENUM.PROCESS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       and action_process_image_name = "bitsadmin.exe"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       and action_process_image_command_line contains "transfer"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       and _time &gt; to_timestamp("now") - 24h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| comp count() by agent_hostname,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          causality_actor_process_image_name</a:t>
            </a:r>
          </a:p>
          <a:p>
            <a:pPr>
              <a:lnSpc>
                <a:spcPct val="115000"/>
              </a:lnSpc>
            </a:pPr>
            <a:r>
              <a:rPr sz="1000">
                <a:solidFill>
                  <a:srgbClr val="06D6A0"/>
                </a:solidFill>
                <a:latin typeface="Consolas"/>
              </a:rPr>
              <a:t>| sort desc _count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617720"/>
            <a:ext cx="566928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RESULT IN OUR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937760"/>
            <a:ext cx="5669280" cy="1188720"/>
          </a:xfrm>
          <a:prstGeom prst="rect">
            <a:avLst/>
          </a:prstGeom>
          <a:noFill/>
        </p:spPr>
        <p:txBody>
          <a:bodyPr wrap="square" lIns="50800" rIns="50800" tIns="50800" bIns="50800">
            <a:spAutoFit/>
          </a:bodyPr>
          <a:lstStyle/>
          <a:p>
            <a:pPr>
              <a:lnSpc>
                <a:spcPct val="130000"/>
              </a:lnSpc>
            </a:pPr>
            <a:r>
              <a:rPr sz="1000">
                <a:solidFill>
                  <a:srgbClr val="CBD5E1"/>
                </a:solidFill>
                <a:latin typeface="Calibri"/>
              </a:rPr>
              <a:t>·  xdragent — bitsadmin transferred mars.exe (1 hit, parent powershell.exe)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CBD5E1"/>
                </a:solidFill>
                <a:latin typeface="Calibri"/>
              </a:rPr>
              <a:t>·  xdragent2 — same pattern (1 hit, post-lateral-movement)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CBD5E1"/>
                </a:solidFill>
                <a:latin typeface="Calibri"/>
              </a:rPr>
              <a:t>·  Pivot from this row → causality view of either host → see the FULL ransack chain.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2 · XDR CAPABILITY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Case management — the IR workflow you live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Cortex XDR 5.0 (Feb 2026) rebuilt the case workspace. AI Case Investigation agent + visual context maps.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11680" cy="1188720"/>
          </a:xfrm>
          <a:prstGeom prst="roundRect">
            <a:avLst>
              <a:gd name="adj" fmla="val 25000"/>
            </a:avLst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Alert lands in queue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78608" y="22860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2011680" cy="1188720"/>
          </a:xfrm>
          <a:prstGeom prst="roundRect">
            <a:avLst>
              <a:gd name="adj" fmla="val 25000"/>
            </a:avLst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057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14600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Severity + scope set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22860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011680" cy="118872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57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514600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Causality + XQL pivots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59168" y="22860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1828800"/>
            <a:ext cx="2011680" cy="1188720"/>
          </a:xfrm>
          <a:prstGeom prst="roundRect">
            <a:avLst>
              <a:gd name="adj" fmla="val 25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057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514600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Isolate + block + kill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99448" y="2286000"/>
            <a:ext cx="1828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828800"/>
            <a:ext cx="2011680" cy="1188720"/>
          </a:xfrm>
          <a:prstGeom prst="roundRect">
            <a:avLst>
              <a:gd name="adj" fmla="val 25000"/>
            </a:avLst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057400"/>
            <a:ext cx="201168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514600"/>
            <a:ext cx="173736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Document + lessons learned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1">
                <a:solidFill>
                  <a:srgbClr val="FA582D"/>
                </a:solidFill>
                <a:latin typeface="Calibri"/>
              </a:rPr>
              <a:t>WHAT CORTEX XDR 5.0 CHANGED IN THE ANALYST WORKSPACE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03320"/>
            <a:ext cx="2697480" cy="2286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703320"/>
            <a:ext cx="2697480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93192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AI Case Summaries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80560"/>
            <a:ext cx="242316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Plain-language briefing of complex multi-stage incidents. Analyst reads 3 sentences instead of 40 alerts.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703320"/>
            <a:ext cx="2697480" cy="2286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37560" y="3703320"/>
            <a:ext cx="2697480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3192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Connection 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480560"/>
            <a:ext cx="242316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Visualize alerts ↔ assets ↔ users in one graph. See the lateral path the adversary took without writing a query.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703320"/>
            <a:ext cx="2697480" cy="2286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3703320"/>
            <a:ext cx="2697480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93192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Case Investigation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480560"/>
            <a:ext cx="242316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Agentic AI suggests next steps, highlights critical evidence, can act with analyst oversight (e.g. host containment, enrichment).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3703320"/>
            <a:ext cx="2697480" cy="22860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400" y="3703320"/>
            <a:ext cx="2697480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3931920"/>
            <a:ext cx="242316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Triage status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480560"/>
            <a:ext cx="242316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Mark Open / In Progress / Pending Review / Closed. Every status change is audit-trailed; multi-analyst handoffs are clean.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2 · XDR CAPABILITY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Response actions — contain the host without leaving the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action is reversible · every action is audit-logged · every action triggers an agent task you can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91440" cy="2148840"/>
          </a:xfrm>
          <a:prstGeom prst="rect">
            <a:avLst/>
          </a:prstGeom>
          <a:solidFill>
            <a:srgbClr val="E63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Isolate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E63A46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Halts all network traffic except agent ↔ Cortex XDR. Adversary's C2 channel goes silent immediately. Reversible.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E63A46"/>
                </a:solidFill>
                <a:latin typeface="Calibri"/>
              </a:rPr>
              <a:t>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When you've confirmed compromise but haven't finished eradication.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82880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828800"/>
            <a:ext cx="91440" cy="21488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9659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Live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Calibri"/>
              </a:rPr>
              <a:t>WHAT IT DOES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4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Remote shell on the host. Use it to inspect filesystem, kill processes, dump memory, copy artifacts — without sending anyone to physically touch the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33756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Calibri"/>
              </a:rPr>
              <a:t>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2044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When you need surgical action that no policy / button covers.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91440" cy="21488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Block File Hash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7744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CA8A04"/>
                </a:solidFill>
                <a:latin typeface="Calibri"/>
              </a:rPr>
              <a:t>WHAT IT DOES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0604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Add SHA256 to the global block list. Cortex agents refuse to execute the binary next time it appears. Independent of isolation.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3756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CA8A04"/>
                </a:solidFill>
                <a:latin typeface="Calibri"/>
              </a:rPr>
              <a:t>WHEN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2044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After you've confirmed a hash is malicious — prevents recurrence across the estate.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6052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160520"/>
            <a:ext cx="91440" cy="2148840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9768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Terminate 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EAB308"/>
                </a:solidFill>
                <a:latin typeface="Calibri"/>
              </a:rPr>
              <a:t>WHAT IT DOES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Kill the running process tree on a specific endpoint, from the causality view. Doesn't wait for the agent's policy to catch 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EAB308"/>
                </a:solidFill>
                <a:latin typeface="Calibri"/>
              </a:rPr>
              <a:t>WHEN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When you've found a malicious node and need it gone now.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16052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4160520"/>
            <a:ext cx="91440" cy="2148840"/>
          </a:xfrm>
          <a:prstGeom prst="rect">
            <a:avLst/>
          </a:prstGeom>
          <a:solidFill>
            <a:srgbClr val="06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29768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Quarantine File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70916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06D6A0"/>
                </a:solidFill>
                <a:latin typeface="Calibri"/>
              </a:rPr>
              <a:t>WHAT IT DOES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493776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Move the malicious artifact to a protected location. File can be restored if it turns out to be FP, or sent to forensics for analysis.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66928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06D6A0"/>
                </a:solidFill>
                <a:latin typeface="Calibri"/>
              </a:rPr>
              <a:t>WHEN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8521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After process termination, to neutralize the artifact on disk.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160520"/>
            <a:ext cx="3611880" cy="214884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160520"/>
            <a:ext cx="91440" cy="2148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29768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Search File on All Endpoints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09160"/>
            <a:ext cx="33375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WHAT IT DOES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937760"/>
            <a:ext cx="333756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Right-click the hash in causality view → 'Search'. Returns every host where the file currently exists or recently ran.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669280"/>
            <a:ext cx="3337560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WHEN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852160"/>
            <a:ext cx="333756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Lateral-spread assessment in seconds, not hours.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SECTION 3 ·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Hands-on — drive incident 1794 from open to closed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You'll work in pairs. 30 minutes. You have the actual telemetry on the lab tenant.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00:00 – 00:05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7452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Find the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In the Cortex tenant, find incident 1794 (severity high). Note the top-level fired analytics rule.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00:05 – 00:10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0604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Read the causality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Open the alert's causality view. Walk from the WildFire-verdict malicious node back to the initial-access process. Identify the root cause.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00:10 – 00:18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33756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Pivot to XQL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38328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From a node hash in the chain, write an XQL query to find every other host that ran the same binary in the last 7 days. Take a screenshot of the result.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00:18 – 00:23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06908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Open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11480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Set triage status to 'In Progress', assign to yourself, add a 1-paragraph case summary in your own words. (AI summary is fine to compare against.)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00:23 – 00:28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80060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Contain the 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84632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Isolate the endpoint. Block the malicious hash globally. Terminate the process tree from the causality view. Quarantine the artifact on disk.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86400"/>
            <a:ext cx="1828800" cy="68580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32120"/>
            <a:ext cx="155448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200" b="1">
                <a:solidFill>
                  <a:srgbClr val="FA582D"/>
                </a:solidFill>
                <a:latin typeface="Calibri"/>
              </a:rPr>
              <a:t>00:28 – 00:30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532120"/>
            <a:ext cx="2377440" cy="5943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Close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577840"/>
            <a:ext cx="6888175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Calibri"/>
              </a:rPr>
              <a:t>Set triage status to 'Resolved'. Document what you'd do differently in production (this is a lab — what's missing or risky here?).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FA582D"/>
                </a:solidFill>
                <a:latin typeface="Calibri"/>
              </a:rPr>
              <a:t>WRAP-UP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you should walk out remembering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If everything else fades, hold on to these five.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064240" cy="12700"/>
          </a:xfrm>
          <a:prstGeom prst="rect">
            <a:avLst/>
          </a:prstGeom>
          <a:solidFill>
            <a:srgbClr val="33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457200" cy="84124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57200" cy="8412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783080"/>
            <a:ext cx="11064240" cy="841248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874520"/>
            <a:ext cx="10698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causality view is the spine of every investigation.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Every alert in Cortex XDR has a process tree behind it. If you don't read that tree, you're triaging on labels.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457200" cy="84124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457200" cy="8412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697480"/>
            <a:ext cx="11064240" cy="841248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88920"/>
            <a:ext cx="10698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XQL is your second screen.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0896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Causality tells you the story; XQL tells you the blast radius. Use both. 800+ fields, cross-data-source. Save your useful queries.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0" cy="84124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457200" cy="8412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11064240" cy="841248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703320"/>
            <a:ext cx="10698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new 5.0 workspace is collaborative on purpose.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02336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Open → Triage → Investigate → Respond → Close. Multi-analyst handoffs are first-class. The AI agent is a force multiplier, not a substitute for judgment.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457200" cy="84124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26280"/>
            <a:ext cx="457200" cy="8412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526280"/>
            <a:ext cx="11064240" cy="841248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617720"/>
            <a:ext cx="10698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Response is reversible — but only if you 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93776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Isolate freely. Block hashes freely. Both undo cleanly if you were wrong. Hesitation costs more than over-containment.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440680"/>
            <a:ext cx="457200" cy="841248"/>
          </a:xfrm>
          <a:prstGeom prst="rect">
            <a:avLst/>
          </a:prstGeom>
          <a:solidFill>
            <a:srgbClr val="FA5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40680"/>
            <a:ext cx="457200" cy="841248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440680"/>
            <a:ext cx="11064240" cy="841248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532120"/>
            <a:ext cx="1069848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Treat MITRE coverage as evidence, not aspiration.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852160"/>
            <a:ext cx="1069848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alibri"/>
              </a:rPr>
              <a:t>The simulation maps to 9 tactics + 22 techniques because it actually fires alerts on each. If your stack doesn't fire on a tactic, it's not covered — vendor claims notwithstanding.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Cortex XDR IR Workshop  ·  Phantom Master Killchain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